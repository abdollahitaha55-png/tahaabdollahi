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قدمه" id="{4ea2dabe-f26c-2b80-a6a8-bd234f4c2e57}">
          <p14:sldIdLst>
            <p14:sldId id="256"/>
            <p14:sldId id="257"/>
            <p14:sldId id="258"/>
          </p14:sldIdLst>
        </p14:section>
        <p14:section name="شکر" id="{0d5d4281-303a-9b6c-6ab5-049bac660f07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توکل" id="{66da02c0-1fa1-2770-44b2-454c672c6138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جمع‌بندی" id="{08d088bd-85d4-a963-b838-9bf8885886cc}">
          <p14:sldIdLst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معرفی موضوع: شکر و توکل دو فضیلت ایمانی در اخلاق اسلامی.
تصویر پیشنهادی: نمای گنبد و مناره‌های یک مسجد هنگام طلوع آفتاب.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مسیر ارائه: ابتدا شکر، سپس توکل، و در پایان پیوند این دو و برنامهٔ عملی.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پیشنهادی: افق دریا یا کوهستان در طلوع آفتاب؛ نماد نور و امید.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پیشنهادی: دست‌هایی که به آسمان بلند شده‌اند یا سفرهٔ نان و میوه.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پیشنهادی: نهالی که از خاک می‌روید؛ نماد رشد نعمت در پرتو شکر.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پیشنهادی: صفحهٔ قرآن کریم و نور ملایم.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شکر کامل در سه ساحت جلوه می‌کند: دل، زبان و رفتار.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برای هر دسته چند نمونه از زندگی روزمره بیان شود. ممکن است جای هر آیکن عکس واقعی (مثلاً سفرهٔ غذا، خانواده، آسمان) قرار گیرد.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پیشنهادی (اختیاری): خوشنویسی «الحمد لله».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پیشنهادی: ۱) کشتی در دریا ۲) قلعه/کاخ تاریخی یا تاج ۳) آسمان شب و مهتاب بر مسجد.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وعدهٔ «لأزیدنکم»: شکر، چرخهٔ نعمت را بسته نگه می‌دارد و آن را افزون می‌کند.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پیشنهادی (اختیاری): زمین سرسبز در برابر زمین خشک و ترک‌خورده.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پیشنهادی: برگ‌های سبز و قطرهٔ باران، یا دفتر یادداشت نعمت‌ها.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پیشنهادی: کوه استوار در مه، یا راهی که به افق می‌رسد.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پیشنهادی: مسیری که میان کوه‌ها به افق می‌رسد؛ نماد حرکت با اعتماد.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آیات توکل: دعوت به توکل، وعدهٔ کفایت الهی و محبت خدا به متوکلان.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اشتباه رایج: توکل را ترک تلاش پنداشتن. در اسلام توکل با به‌کارگیری اسباب جمع می‌شود.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مراتب توکل در متون اخلاقی با عبارت‌های نزدیک به هم آمده است؛ هرچه ایمان قوی‌تر باشد، توکل نیز بالاتر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توکل بر پایهٔ شناخت خدا شکل می‌گیرد؛ هرچه شناخت عمیق‌تر باشد، اعتماد بیشتر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پیشنهادی (اختیاری): قایق در دریای آرام یا درخت استوار در باد.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پیشنهادی: ۱) دریا ۲) غار در کوه ۳) کاروانی در بیابان.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هر دو از توحید و حسن ظن به خدا سرچشمه می‌گیرند: شکر برای نعمت‌های گذشته و حال، توکل برای آینده.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پیشنهادی: ۱) طلوع آفتاب ۲) میز کار/تلاش ۳) آسمان پرستارهٔ شب.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پیشنهادی: دو دست در حال دعا یا طلوع آفتاب.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پایان ارائه و پرسش و پاسخ.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CC1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LAN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9302" y="1687982"/>
            <a:ext cx="3482035" cy="3482035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4" name="icon FaMosqu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018" y="2609698"/>
            <a:ext cx="1638605" cy="16386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0" y="1097280"/>
            <a:ext cx="5879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accent1"/>
                </a:solidFill>
              </a:rPr>
              <a:t>درس اخلاق اسلامی</a:t>
            </a:r>
            <a:endParaRPr lang="fa-IR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737360"/>
            <a:ext cx="5879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7200" b="1" dirty="0">
                <a:solidFill>
                  <a:schemeClr val="bg1"/>
                </a:solidFill>
              </a:rPr>
              <a:t>شکر و توکل</a:t>
            </a:r>
            <a:endParaRPr lang="fa-IR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3383280"/>
            <a:ext cx="5879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600" dirty="0">
                <a:solidFill>
                  <a:schemeClr val="accent3"/>
                </a:solidFill>
              </a:rPr>
              <a:t>سپاسِ نعمت‌های خدا و اعتماد به تدبیر او</a:t>
            </a:r>
            <a:endParaRPr lang="fa-IR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4937760"/>
            <a:ext cx="5879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800" dirty="0">
                <a:solidFill>
                  <a:schemeClr val="bg1"/>
                </a:solidFill>
              </a:rPr>
              <a:t>برگرفته از کتاب «اخلاق اسلامی»، محمد داوودی</a:t>
            </a:r>
            <a:endParaRPr lang="fa-IR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5577840"/>
            <a:ext cx="5879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الْحَمْدُ لِلَّهِ رَبِّ الْعَالَمِينَ</a:t>
            </a:r>
            <a:endParaRPr lang="ar-SA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فهرست مطالب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8158277" y="1508760"/>
            <a:ext cx="3484778" cy="4572000"/>
          </a:xfrm>
          <a:prstGeom prst="roundRect">
            <a:avLst>
              <a:gd name="adj" fmla="val 3674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78317" y="164592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5400" b="1" dirty="0">
                <a:solidFill>
                  <a:srgbClr val="C9A24B"/>
                </a:solidFill>
              </a:rPr>
              <a:t>۱</a:t>
            </a:r>
            <a:endParaRPr lang="fa-IR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478317" y="251460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600" b="1" dirty="0">
                <a:solidFill>
                  <a:srgbClr val="FFFFFF"/>
                </a:solidFill>
              </a:rPr>
              <a:t>شکر</a:t>
            </a:r>
            <a:endParaRPr lang="fa-IR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478317" y="3200400"/>
            <a:ext cx="284469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rgbClr val="FFFFFF"/>
                </a:solidFill>
              </a:rPr>
              <a:t>معنا و ارکان شکر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rgbClr val="FFFFFF"/>
                </a:solidFill>
              </a:rPr>
              <a:t>نعمت‌های ظاهری و باطنی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rgbClr val="FFFFFF"/>
                </a:solidFill>
              </a:rPr>
              <a:t>روایات و نمونه‌های شاکران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rgbClr val="FFFFFF"/>
                </a:solidFill>
              </a:rPr>
              <a:t>آثار شکر و کفران نعمت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rgbClr val="FFFFFF"/>
                </a:solidFill>
              </a:rPr>
              <a:t>راه‌های شکرگزاری</a:t>
            </a:r>
            <a:endParaRPr lang="fa-IR" sz="1700" dirty="0"/>
          </a:p>
        </p:txBody>
      </p:sp>
      <p:sp>
        <p:nvSpPr>
          <p:cNvPr id="7" name="Shape 5"/>
          <p:cNvSpPr/>
          <p:nvPr/>
        </p:nvSpPr>
        <p:spPr>
          <a:xfrm>
            <a:off x="4353458" y="1508760"/>
            <a:ext cx="3484778" cy="4572000"/>
          </a:xfrm>
          <a:prstGeom prst="roundRect">
            <a:avLst>
              <a:gd name="adj" fmla="val 367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73498" y="164592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5400" b="1" dirty="0">
                <a:solidFill>
                  <a:srgbClr val="1F8A7A"/>
                </a:solidFill>
              </a:rPr>
              <a:t>۲</a:t>
            </a:r>
            <a:endParaRPr lang="fa-IR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673498" y="251460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600" b="1" dirty="0">
                <a:solidFill>
                  <a:srgbClr val="10302D"/>
                </a:solidFill>
              </a:rPr>
              <a:t>توکل</a:t>
            </a:r>
            <a:endParaRPr lang="fa-IR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73498" y="3200400"/>
            <a:ext cx="284469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rgbClr val="10302D"/>
                </a:solidFill>
              </a:rPr>
              <a:t>معنا و جایگاه توکل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rgbClr val="10302D"/>
                </a:solidFill>
              </a:rPr>
              <a:t>توکل و تلاش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rgbClr val="10302D"/>
                </a:solidFill>
              </a:rPr>
              <a:t>مراتب توکل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rgbClr val="10302D"/>
                </a:solidFill>
              </a:rPr>
              <a:t>ریشه‌ها و آثار توکل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rgbClr val="10302D"/>
                </a:solidFill>
              </a:rPr>
              <a:t>نمونه‌های توکل</a:t>
            </a:r>
            <a:endParaRPr lang="fa-IR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3484778" cy="4572000"/>
          </a:xfrm>
          <a:prstGeom prst="roundRect">
            <a:avLst>
              <a:gd name="adj" fmla="val 367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1645920"/>
            <a:ext cx="28446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5400" b="1" dirty="0">
                <a:solidFill>
                  <a:srgbClr val="1F8A7A"/>
                </a:solidFill>
              </a:rPr>
              <a:t>۳</a:t>
            </a:r>
            <a:endParaRPr lang="fa-IR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514600"/>
            <a:ext cx="2844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600" b="1" dirty="0">
                <a:solidFill>
                  <a:srgbClr val="10302D"/>
                </a:solidFill>
              </a:rPr>
              <a:t>جمع‌بندی</a:t>
            </a:r>
            <a:endParaRPr lang="fa-IR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200400"/>
            <a:ext cx="284469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rgbClr val="10302D"/>
                </a:solidFill>
              </a:rPr>
              <a:t>پیوند شکر و توکل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rgbClr val="10302D"/>
                </a:solidFill>
              </a:rPr>
              <a:t>برنامهٔ عملی یک روز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rgbClr val="10302D"/>
                </a:solidFill>
              </a:rPr>
              <a:t>نتیجه‌گیری</a:t>
            </a:r>
            <a:endParaRPr lang="fa-I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جایگاه شکر و توکل در اخلاق اسلامی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694944" y="1609344"/>
            <a:ext cx="4206240" cy="4572000"/>
          </a:xfrm>
          <a:prstGeom prst="rect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4206240" cy="457200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1638" y="2318918"/>
            <a:ext cx="2860243" cy="2860243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6" name="icon FaSu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8762" y="3076042"/>
            <a:ext cx="1345997" cy="134599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774375" y="1645920"/>
            <a:ext cx="868680" cy="86868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8" name="icon FaQura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8919" y="1880464"/>
            <a:ext cx="399593" cy="3995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94960" y="1463040"/>
            <a:ext cx="5105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tx2"/>
                </a:solidFill>
              </a:rPr>
              <a:t>اخلاق، میوهٔ ایمان</a:t>
            </a:r>
            <a:endParaRPr lang="fa-IR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1965960"/>
            <a:ext cx="5105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chemeClr val="tx1"/>
                </a:solidFill>
              </a:rPr>
              <a:t>در اخلاق اسلامی، رفتار نیک از ریشهٔ ایمان و توحید می‌روید؛ فضایل ایمانی سرچشمهٔ فضیلت‌های دیگرند.</a:t>
            </a:r>
            <a:endParaRPr lang="fa-IR" sz="1700" dirty="0"/>
          </a:p>
        </p:txBody>
      </p:sp>
      <p:sp>
        <p:nvSpPr>
          <p:cNvPr id="11" name="Shape 7"/>
          <p:cNvSpPr/>
          <p:nvPr/>
        </p:nvSpPr>
        <p:spPr>
          <a:xfrm>
            <a:off x="10774375" y="3246120"/>
            <a:ext cx="868680" cy="86868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12" name="icon FaHandHoldingHear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8919" y="3480664"/>
            <a:ext cx="399593" cy="3995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3063240"/>
            <a:ext cx="5105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tx2"/>
                </a:solidFill>
              </a:rPr>
              <a:t>شکر؛ نگاه به گذشته و حال</a:t>
            </a:r>
            <a:endParaRPr lang="fa-IR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5394960" y="3566160"/>
            <a:ext cx="5105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chemeClr val="tx1"/>
                </a:solidFill>
              </a:rPr>
              <a:t>شناخت نعمت‌های خدا و سپاس از او، دل را از ناسپاسی و حسرت پاک می‌کند.</a:t>
            </a:r>
            <a:endParaRPr lang="fa-IR" sz="1700" dirty="0"/>
          </a:p>
        </p:txBody>
      </p:sp>
      <p:sp>
        <p:nvSpPr>
          <p:cNvPr id="15" name="Shape 10"/>
          <p:cNvSpPr/>
          <p:nvPr/>
        </p:nvSpPr>
        <p:spPr>
          <a:xfrm>
            <a:off x="10774375" y="4846320"/>
            <a:ext cx="868680" cy="86868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16" name="icon FaShieldAl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8919" y="5080864"/>
            <a:ext cx="399593" cy="3995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94960" y="4663440"/>
            <a:ext cx="5105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tx2"/>
                </a:solidFill>
              </a:rPr>
              <a:t>توکل؛ نگاه به آینده</a:t>
            </a:r>
            <a:endParaRPr lang="fa-IR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5166360"/>
            <a:ext cx="5105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chemeClr val="tx1"/>
                </a:solidFill>
              </a:rPr>
              <a:t>اعتماد به خدا در کنار تلاش، انسان را از اضطراب و وابستگی به غیر خدا آزاد می‌کند.</a:t>
            </a:r>
            <a:endParaRPr lang="fa-I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042" y="1750162"/>
            <a:ext cx="3357677" cy="3357677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4" name="icon FaHandsHelpin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" y="2638958"/>
            <a:ext cx="1580083" cy="158008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1737360"/>
            <a:ext cx="6062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accent1"/>
                </a:solidFill>
              </a:rPr>
              <a:t>بخش اول</a:t>
            </a:r>
            <a:endParaRPr lang="fa-IR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2194560"/>
            <a:ext cx="6062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9600" b="1" dirty="0">
                <a:solidFill>
                  <a:schemeClr val="bg1"/>
                </a:solidFill>
              </a:rPr>
              <a:t>شکر</a:t>
            </a:r>
            <a:endParaRPr lang="fa-IR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4023360"/>
            <a:ext cx="606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600" dirty="0">
                <a:solidFill>
                  <a:schemeClr val="accent3"/>
                </a:solidFill>
              </a:rPr>
              <a:t>سپاسِ نعمت‌های بی‌شمار خداوند</a:t>
            </a:r>
            <a:endParaRPr lang="fa-IR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5120640"/>
            <a:ext cx="606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وَقَلِيلٌ مِّنْ عِبَادِيَ الشَّكُورُ</a:t>
            </a:r>
            <a:endParaRPr lang="ar-SA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5760720"/>
            <a:ext cx="6062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accent3"/>
                </a:solidFill>
              </a:rPr>
              <a:t>سبأ، آیهٔ ۱۳</a:t>
            </a:r>
            <a:endParaRPr lang="fa-IR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معنای شکر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694944" y="1609344"/>
            <a:ext cx="4023360" cy="4572000"/>
          </a:xfrm>
          <a:prstGeom prst="rect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4023360" cy="457200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2378" y="2381098"/>
            <a:ext cx="2735885" cy="2735885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6" name="icon FaSeedlin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6582" y="3105302"/>
            <a:ext cx="1287475" cy="12874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20640" y="1463040"/>
            <a:ext cx="6522415" cy="2011680"/>
          </a:xfrm>
          <a:prstGeom prst="roundRect">
            <a:avLst>
              <a:gd name="adj" fmla="val 636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40680" y="1691640"/>
            <a:ext cx="5882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chemeClr val="accent2"/>
                </a:solidFill>
              </a:rPr>
              <a:t>در لغت</a:t>
            </a:r>
            <a:endParaRPr lang="fa-IR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2194560"/>
            <a:ext cx="5882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dirty="0">
                <a:solidFill>
                  <a:schemeClr val="tx1"/>
                </a:solidFill>
              </a:rPr>
              <a:t>شکر یعنی سپاس‌گزاری و ستایش در برابر نعمت؛ ضد آن «کفر» و «کفران» است.</a:t>
            </a:r>
            <a:endParaRPr lang="fa-IR" sz="2000" dirty="0"/>
          </a:p>
        </p:txBody>
      </p:sp>
      <p:sp>
        <p:nvSpPr>
          <p:cNvPr id="10" name="Shape 7"/>
          <p:cNvSpPr/>
          <p:nvPr/>
        </p:nvSpPr>
        <p:spPr>
          <a:xfrm>
            <a:off x="5120640" y="3657600"/>
            <a:ext cx="6522415" cy="2377440"/>
          </a:xfrm>
          <a:prstGeom prst="roundRect">
            <a:avLst>
              <a:gd name="adj" fmla="val 5385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40680" y="3886200"/>
            <a:ext cx="5882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chemeClr val="accent1"/>
                </a:solidFill>
              </a:rPr>
              <a:t>در اصطلاح</a:t>
            </a:r>
            <a:endParaRPr lang="fa-IR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4389120"/>
            <a:ext cx="5882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dirty="0">
                <a:solidFill>
                  <a:schemeClr val="bg1"/>
                </a:solidFill>
              </a:rPr>
              <a:t>شناخت نعمت و نعمت‌دهنده، و به‌کار گرفتن نعمت در راهی که رضای او در آن است؛ همراه با سپاس قلبی و زبانی.</a:t>
            </a:r>
            <a:endParaRPr lang="fa-I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477" y="2123237"/>
            <a:ext cx="2611526" cy="2611526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4" name="icon FaQura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763" y="2814523"/>
            <a:ext cx="1228954" cy="12289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480560" y="731520"/>
            <a:ext cx="7159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accent3"/>
                </a:solidFill>
              </a:rPr>
              <a:t>وعدهٔ الهی دربارهٔ شکر</a:t>
            </a:r>
            <a:endParaRPr lang="fa-IR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480560" y="1554480"/>
            <a:ext cx="71597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38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لَئِن شَكَرْتُمْ لَأَزِيدَنَّكُمْ وَلَئِن كَفَرْتُمْ إِنَّ عَذَابِي لَشَدِيدٌ</a:t>
            </a:r>
            <a:endParaRPr lang="ar-SA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4480560" y="3840480"/>
            <a:ext cx="7159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dirty="0">
                <a:solidFill>
                  <a:schemeClr val="bg1"/>
                </a:solidFill>
              </a:rPr>
              <a:t>«اگر شکرگزاری کنید، [نعمت] شما را افزون می‌کنم و اگر ناسپاسی کنید، عذاب من سخت است.»</a:t>
            </a:r>
            <a:endParaRPr lang="fa-IR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5029200"/>
            <a:ext cx="715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accent3"/>
                </a:solidFill>
              </a:rPr>
              <a:t>ابراهیم، آیهٔ ۷</a:t>
            </a:r>
            <a:endParaRPr lang="fa-IR" sz="1500" dirty="0"/>
          </a:p>
        </p:txBody>
      </p:sp>
      <p:sp>
        <p:nvSpPr>
          <p:cNvPr id="9" name="Shape 6"/>
          <p:cNvSpPr/>
          <p:nvPr/>
        </p:nvSpPr>
        <p:spPr>
          <a:xfrm>
            <a:off x="4480560" y="5532120"/>
            <a:ext cx="3383280" cy="594360"/>
          </a:xfrm>
          <a:prstGeom prst="roundRect">
            <a:avLst>
              <a:gd name="adj" fmla="val 21538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5532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700" b="1" dirty="0">
                <a:solidFill>
                  <a:schemeClr val="accent1"/>
                </a:solidFill>
              </a:rPr>
              <a:t>شکر ← افزایش نعمت</a:t>
            </a:r>
            <a:endParaRPr lang="fa-IR" sz="1700" dirty="0"/>
          </a:p>
        </p:txBody>
      </p:sp>
      <p:sp>
        <p:nvSpPr>
          <p:cNvPr id="11" name="Shape 8"/>
          <p:cNvSpPr/>
          <p:nvPr/>
        </p:nvSpPr>
        <p:spPr>
          <a:xfrm>
            <a:off x="8046720" y="5532120"/>
            <a:ext cx="3593592" cy="594360"/>
          </a:xfrm>
          <a:prstGeom prst="roundRect">
            <a:avLst>
              <a:gd name="adj" fmla="val 21538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5532120"/>
            <a:ext cx="3593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700" b="1" dirty="0">
                <a:solidFill>
                  <a:schemeClr val="bg1"/>
                </a:solidFill>
              </a:rPr>
              <a:t>کفران ← عذاب سخت</a:t>
            </a:r>
            <a:endParaRPr lang="fa-IR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ارکان شکر: قلب، زبان، عمل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8158277" y="1508760"/>
            <a:ext cx="3484778" cy="4572000"/>
          </a:xfrm>
          <a:prstGeom prst="roundRect">
            <a:avLst>
              <a:gd name="adj" fmla="val 367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3466" y="1783080"/>
            <a:ext cx="914400" cy="91440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5" name="icon FaHear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0354" y="20299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32597" y="2880360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2600" b="1" dirty="0">
                <a:solidFill>
                  <a:schemeClr val="tx2"/>
                </a:solidFill>
              </a:rPr>
              <a:t>شکر قلبی</a:t>
            </a:r>
            <a:endParaRPr lang="fa-IR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432597" y="3520440"/>
            <a:ext cx="29361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chemeClr val="tx1"/>
                </a:solidFill>
              </a:rPr>
              <a:t>شناخت اینکه همهٔ نعمت‌ها از خداست و محبت به نعمت‌دهنده.</a:t>
            </a:r>
            <a:endParaRPr lang="fa-IR" sz="1700" dirty="0"/>
          </a:p>
        </p:txBody>
      </p:sp>
      <p:sp>
        <p:nvSpPr>
          <p:cNvPr id="8" name="Shape 5"/>
          <p:cNvSpPr/>
          <p:nvPr/>
        </p:nvSpPr>
        <p:spPr>
          <a:xfrm>
            <a:off x="8432597" y="5029200"/>
            <a:ext cx="2936138" cy="777240"/>
          </a:xfrm>
          <a:prstGeom prst="roundRect">
            <a:avLst>
              <a:gd name="adj" fmla="val 16471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69757" y="502920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هر نعمتی را از او دیدن</a:t>
            </a:r>
            <a:endParaRPr lang="fa-IR" sz="1500" dirty="0"/>
          </a:p>
        </p:txBody>
      </p:sp>
      <p:sp>
        <p:nvSpPr>
          <p:cNvPr id="10" name="Shape 7"/>
          <p:cNvSpPr/>
          <p:nvPr/>
        </p:nvSpPr>
        <p:spPr>
          <a:xfrm>
            <a:off x="4353458" y="1508760"/>
            <a:ext cx="3484778" cy="4572000"/>
          </a:xfrm>
          <a:prstGeom prst="roundRect">
            <a:avLst>
              <a:gd name="adj" fmla="val 367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38648" y="1783080"/>
            <a:ext cx="914400" cy="91440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12" name="icon FaCommentDo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536" y="202996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27778" y="2880360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2600" b="1" dirty="0">
                <a:solidFill>
                  <a:schemeClr val="tx2"/>
                </a:solidFill>
              </a:rPr>
              <a:t>شکر زبانی</a:t>
            </a:r>
            <a:endParaRPr lang="fa-IR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4627778" y="3520440"/>
            <a:ext cx="29361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chemeClr val="tx1"/>
                </a:solidFill>
              </a:rPr>
              <a:t>ستایش و سپاس خدا با زبان و یادکردن نعمت‌های او.</a:t>
            </a:r>
            <a:endParaRPr lang="fa-IR" sz="1700" dirty="0"/>
          </a:p>
        </p:txBody>
      </p:sp>
      <p:sp>
        <p:nvSpPr>
          <p:cNvPr id="15" name="Shape 11"/>
          <p:cNvSpPr/>
          <p:nvPr/>
        </p:nvSpPr>
        <p:spPr>
          <a:xfrm>
            <a:off x="4627778" y="5029200"/>
            <a:ext cx="2936138" cy="777240"/>
          </a:xfrm>
          <a:prstGeom prst="roundRect">
            <a:avLst>
              <a:gd name="adj" fmla="val 16471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64938" y="502920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«الحمد لله رب العالمین»</a:t>
            </a:r>
            <a:endParaRPr lang="fa-IR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1508760"/>
            <a:ext cx="3484778" cy="4572000"/>
          </a:xfrm>
          <a:prstGeom prst="roundRect">
            <a:avLst>
              <a:gd name="adj" fmla="val 367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833829" y="1783080"/>
            <a:ext cx="914400" cy="91440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19" name="icon FaHandsHelpin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717" y="202996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" y="2880360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2600" b="1" dirty="0">
                <a:solidFill>
                  <a:schemeClr val="tx2"/>
                </a:solidFill>
              </a:rPr>
              <a:t>شکر عملی</a:t>
            </a:r>
            <a:endParaRPr lang="fa-IR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3520440"/>
            <a:ext cx="29361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chemeClr val="tx1"/>
                </a:solidFill>
              </a:rPr>
              <a:t>به‌کار بردن هر نعمت در همان راهی که برای آن آفریده شده و خدا می‌پسندد.</a:t>
            </a:r>
            <a:endParaRPr lang="fa-IR" sz="1700" dirty="0"/>
          </a:p>
        </p:txBody>
      </p:sp>
      <p:sp>
        <p:nvSpPr>
          <p:cNvPr id="22" name="Shape 17"/>
          <p:cNvSpPr/>
          <p:nvPr/>
        </p:nvSpPr>
        <p:spPr>
          <a:xfrm>
            <a:off x="822960" y="5029200"/>
            <a:ext cx="2936138" cy="777240"/>
          </a:xfrm>
          <a:prstGeom prst="roundRect">
            <a:avLst>
              <a:gd name="adj" fmla="val 16471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60120" y="5029200"/>
            <a:ext cx="26618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علم و مال را در خدمت مردم گذاشتن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نعمت‌های ظاهری و باطنی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1143000"/>
          </a:xfrm>
          <a:prstGeom prst="roundRect">
            <a:avLst>
              <a:gd name="adj" fmla="val 11200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70855" y="141732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وَإِن تَعُدُّوا نِعْمَةَ اللَّهِ لَا تُحْصُوهَا</a:t>
            </a:r>
            <a:endParaRPr lang="ar-SA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«اگر نعمت‌های خدا را بشمارید، نمی‌توانید آن‌ها را به شمار آورید.» (ابراهیم ۳۴)</a:t>
            </a:r>
            <a:endParaRPr lang="fa-IR" sz="1500" dirty="0"/>
          </a:p>
        </p:txBody>
      </p:sp>
      <p:sp>
        <p:nvSpPr>
          <p:cNvPr id="6" name="Shape 4"/>
          <p:cNvSpPr/>
          <p:nvPr/>
        </p:nvSpPr>
        <p:spPr>
          <a:xfrm>
            <a:off x="6278728" y="2788920"/>
            <a:ext cx="5364328" cy="502920"/>
          </a:xfrm>
          <a:prstGeom prst="roundRect">
            <a:avLst>
              <a:gd name="adj" fmla="val 25455"/>
            </a:avLst>
          </a:prstGeom>
          <a:solidFill>
            <a:srgbClr val="1F8A7A"/>
          </a:solidFill>
          <a:ln w="12700">
            <a:solidFill>
              <a:srgbClr val="1F8A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78728" y="2788920"/>
            <a:ext cx="536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800" b="1" dirty="0">
                <a:solidFill>
                  <a:schemeClr val="bg1"/>
                </a:solidFill>
              </a:rPr>
              <a:t>نعمت‌های ظاهری</a:t>
            </a:r>
            <a:endParaRPr lang="fa-IR" sz="1800" dirty="0"/>
          </a:p>
        </p:txBody>
      </p:sp>
      <p:sp>
        <p:nvSpPr>
          <p:cNvPr id="8" name="Shape 6"/>
          <p:cNvSpPr/>
          <p:nvPr/>
        </p:nvSpPr>
        <p:spPr>
          <a:xfrm>
            <a:off x="9075191" y="3474720"/>
            <a:ext cx="2567864" cy="1188720"/>
          </a:xfrm>
          <a:prstGeom prst="roundRect">
            <a:avLst>
              <a:gd name="adj" fmla="val 10769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11535" y="3749040"/>
            <a:ext cx="640080" cy="640080"/>
          </a:xfrm>
          <a:prstGeom prst="ellipse">
            <a:avLst/>
          </a:prstGeom>
          <a:solidFill>
            <a:srgbClr val="1F8A7A"/>
          </a:solidFill>
          <a:ln w="12700">
            <a:solidFill>
              <a:srgbClr val="1F8A7A"/>
            </a:solidFill>
            <a:prstDash val="solid"/>
          </a:ln>
        </p:spPr>
      </p:sp>
      <p:pic>
        <p:nvPicPr>
          <p:cNvPr id="10" name="icon FaHeartbea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4357" y="3921862"/>
            <a:ext cx="294437" cy="29443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212351" y="3474720"/>
            <a:ext cx="1562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1"/>
                </a:solidFill>
              </a:rPr>
              <a:t>سلامت و تندرستی</a:t>
            </a:r>
            <a:endParaRPr lang="fa-IR" sz="1600" dirty="0"/>
          </a:p>
        </p:txBody>
      </p:sp>
      <p:sp>
        <p:nvSpPr>
          <p:cNvPr id="12" name="Shape 9"/>
          <p:cNvSpPr/>
          <p:nvPr/>
        </p:nvSpPr>
        <p:spPr>
          <a:xfrm>
            <a:off x="6278728" y="3474720"/>
            <a:ext cx="2567864" cy="1188720"/>
          </a:xfrm>
          <a:prstGeom prst="roundRect">
            <a:avLst>
              <a:gd name="adj" fmla="val 10769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15071" y="3749040"/>
            <a:ext cx="640080" cy="640080"/>
          </a:xfrm>
          <a:prstGeom prst="ellipse">
            <a:avLst/>
          </a:prstGeom>
          <a:solidFill>
            <a:srgbClr val="1F8A7A"/>
          </a:solidFill>
          <a:ln w="12700">
            <a:solidFill>
              <a:srgbClr val="1F8A7A"/>
            </a:solidFill>
            <a:prstDash val="solid"/>
          </a:ln>
        </p:spPr>
      </p:sp>
      <p:pic>
        <p:nvPicPr>
          <p:cNvPr id="14" name="icon FaTin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893" y="3921862"/>
            <a:ext cx="294437" cy="29443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15888" y="3474720"/>
            <a:ext cx="1562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1"/>
                </a:solidFill>
              </a:rPr>
              <a:t>آب و غذا</a:t>
            </a:r>
            <a:endParaRPr lang="fa-IR" sz="1600" dirty="0"/>
          </a:p>
        </p:txBody>
      </p:sp>
      <p:sp>
        <p:nvSpPr>
          <p:cNvPr id="16" name="Shape 12"/>
          <p:cNvSpPr/>
          <p:nvPr/>
        </p:nvSpPr>
        <p:spPr>
          <a:xfrm>
            <a:off x="9075191" y="4846320"/>
            <a:ext cx="2567864" cy="1188720"/>
          </a:xfrm>
          <a:prstGeom prst="roundRect">
            <a:avLst>
              <a:gd name="adj" fmla="val 10769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911535" y="5120640"/>
            <a:ext cx="640080" cy="640080"/>
          </a:xfrm>
          <a:prstGeom prst="ellipse">
            <a:avLst/>
          </a:prstGeom>
          <a:solidFill>
            <a:srgbClr val="1F8A7A"/>
          </a:solidFill>
          <a:ln w="12700">
            <a:solidFill>
              <a:srgbClr val="1F8A7A"/>
            </a:solidFill>
            <a:prstDash val="solid"/>
          </a:ln>
        </p:spPr>
      </p:sp>
      <p:pic>
        <p:nvPicPr>
          <p:cNvPr id="18" name="icon FaUser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4357" y="5293462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12351" y="4846320"/>
            <a:ext cx="1562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1"/>
                </a:solidFill>
              </a:rPr>
              <a:t>خانواده و دوستان</a:t>
            </a:r>
            <a:endParaRPr lang="fa-IR" sz="1600" dirty="0"/>
          </a:p>
        </p:txBody>
      </p:sp>
      <p:sp>
        <p:nvSpPr>
          <p:cNvPr id="20" name="Shape 15"/>
          <p:cNvSpPr/>
          <p:nvPr/>
        </p:nvSpPr>
        <p:spPr>
          <a:xfrm>
            <a:off x="6278728" y="4846320"/>
            <a:ext cx="2567864" cy="1188720"/>
          </a:xfrm>
          <a:prstGeom prst="roundRect">
            <a:avLst>
              <a:gd name="adj" fmla="val 10769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115071" y="5120640"/>
            <a:ext cx="640080" cy="640080"/>
          </a:xfrm>
          <a:prstGeom prst="ellipse">
            <a:avLst/>
          </a:prstGeom>
          <a:solidFill>
            <a:srgbClr val="1F8A7A"/>
          </a:solidFill>
          <a:ln w="12700">
            <a:solidFill>
              <a:srgbClr val="1F8A7A"/>
            </a:solidFill>
            <a:prstDash val="solid"/>
          </a:ln>
        </p:spPr>
      </p:sp>
      <p:pic>
        <p:nvPicPr>
          <p:cNvPr id="22" name="icon FaSu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893" y="5293462"/>
            <a:ext cx="294437" cy="29443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15888" y="4846320"/>
            <a:ext cx="1562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1"/>
                </a:solidFill>
              </a:rPr>
              <a:t>زمین، آسمان و نور</a:t>
            </a:r>
            <a:endParaRPr lang="fa-IR" sz="1600" dirty="0"/>
          </a:p>
        </p:txBody>
      </p:sp>
      <p:sp>
        <p:nvSpPr>
          <p:cNvPr id="24" name="Shape 18"/>
          <p:cNvSpPr/>
          <p:nvPr/>
        </p:nvSpPr>
        <p:spPr>
          <a:xfrm>
            <a:off x="548640" y="2788920"/>
            <a:ext cx="5364328" cy="502920"/>
          </a:xfrm>
          <a:prstGeom prst="roundRect">
            <a:avLst>
              <a:gd name="adj" fmla="val 25455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48640" y="2788920"/>
            <a:ext cx="536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800" b="1" dirty="0">
                <a:solidFill>
                  <a:schemeClr val="bg1"/>
                </a:solidFill>
              </a:rPr>
              <a:t>نعمت‌های باطنی</a:t>
            </a:r>
            <a:endParaRPr lang="fa-IR" sz="1800" dirty="0"/>
          </a:p>
        </p:txBody>
      </p:sp>
      <p:sp>
        <p:nvSpPr>
          <p:cNvPr id="26" name="Shape 20"/>
          <p:cNvSpPr/>
          <p:nvPr/>
        </p:nvSpPr>
        <p:spPr>
          <a:xfrm>
            <a:off x="3345104" y="3474720"/>
            <a:ext cx="2567864" cy="1188720"/>
          </a:xfrm>
          <a:prstGeom prst="roundRect">
            <a:avLst>
              <a:gd name="adj" fmla="val 10769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181448" y="3749040"/>
            <a:ext cx="640080" cy="64008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28" name="icon FaSta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4269" y="3921862"/>
            <a:ext cx="294437" cy="29443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482264" y="3474720"/>
            <a:ext cx="1562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1"/>
                </a:solidFill>
              </a:rPr>
              <a:t>ایمان</a:t>
            </a:r>
            <a:endParaRPr lang="fa-IR" sz="1600" dirty="0"/>
          </a:p>
        </p:txBody>
      </p:sp>
      <p:sp>
        <p:nvSpPr>
          <p:cNvPr id="30" name="Shape 23"/>
          <p:cNvSpPr/>
          <p:nvPr/>
        </p:nvSpPr>
        <p:spPr>
          <a:xfrm>
            <a:off x="548640" y="3474720"/>
            <a:ext cx="2567864" cy="1188720"/>
          </a:xfrm>
          <a:prstGeom prst="roundRect">
            <a:avLst>
              <a:gd name="adj" fmla="val 10769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2384984" y="3749040"/>
            <a:ext cx="640080" cy="64008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32" name="icon FaLightbulb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7805" y="3921862"/>
            <a:ext cx="294437" cy="29443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85800" y="3474720"/>
            <a:ext cx="1562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1"/>
                </a:solidFill>
              </a:rPr>
              <a:t>عقل و اندیشه</a:t>
            </a:r>
            <a:endParaRPr lang="fa-IR" sz="1600" dirty="0"/>
          </a:p>
        </p:txBody>
      </p:sp>
      <p:sp>
        <p:nvSpPr>
          <p:cNvPr id="34" name="Shape 26"/>
          <p:cNvSpPr/>
          <p:nvPr/>
        </p:nvSpPr>
        <p:spPr>
          <a:xfrm>
            <a:off x="3345104" y="4846320"/>
            <a:ext cx="2567864" cy="1188720"/>
          </a:xfrm>
          <a:prstGeom prst="roundRect">
            <a:avLst>
              <a:gd name="adj" fmla="val 10769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181448" y="5120640"/>
            <a:ext cx="640080" cy="64008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36" name="icon FaDov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4269" y="5293462"/>
            <a:ext cx="294437" cy="29443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482264" y="4846320"/>
            <a:ext cx="1562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1"/>
                </a:solidFill>
              </a:rPr>
              <a:t>آرامش دل</a:t>
            </a:r>
            <a:endParaRPr lang="fa-IR" sz="1600" dirty="0"/>
          </a:p>
        </p:txBody>
      </p:sp>
      <p:sp>
        <p:nvSpPr>
          <p:cNvPr id="38" name="Shape 29"/>
          <p:cNvSpPr/>
          <p:nvPr/>
        </p:nvSpPr>
        <p:spPr>
          <a:xfrm>
            <a:off x="548640" y="4846320"/>
            <a:ext cx="2567864" cy="1188720"/>
          </a:xfrm>
          <a:prstGeom prst="roundRect">
            <a:avLst>
              <a:gd name="adj" fmla="val 10769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2384984" y="5120640"/>
            <a:ext cx="640080" cy="64008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40" name="icon FaRoute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7805" y="5293462"/>
            <a:ext cx="294437" cy="294437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85800" y="4846320"/>
            <a:ext cx="1562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1"/>
                </a:solidFill>
              </a:rPr>
              <a:t>هدایت</a:t>
            </a:r>
            <a:endParaRPr lang="fa-IR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548640" y="6309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5A706C"/>
                </a:solidFill>
              </a:rPr>
              <a:t>لقمان ۲۰: «و نعمت‌های آشکار و پنهان خود را بر شما کامل کرد.»</a:t>
            </a:r>
            <a:endParaRPr lang="fa-I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شکر در کلام معصومان (ع)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4415" cy="1417320"/>
          </a:xfrm>
          <a:prstGeom prst="roundRect">
            <a:avLst>
              <a:gd name="adj" fmla="val 9032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82935" y="1810512"/>
            <a:ext cx="731520" cy="73152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5" name="icon FaQuoteR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446" y="2008022"/>
            <a:ext cx="336499" cy="33649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572768"/>
            <a:ext cx="9585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chemeClr val="accent2"/>
                </a:solidFill>
              </a:rPr>
              <a:t>پیامبر اکرم (ص)</a:t>
            </a:r>
            <a:endParaRPr lang="fa-IR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01952"/>
            <a:ext cx="9585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chemeClr val="tx1"/>
                </a:solidFill>
              </a:rPr>
              <a:t>هر که مخلوق را سپاس نگوید، خدا را سپاس نگفته است.</a:t>
            </a:r>
            <a:endParaRPr lang="fa-IR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87168"/>
            <a:ext cx="9585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مَنْ لَمْ يَشْكُرِ الْمَخْلُوقَ لَمْ يَشْكُرِ الْخَالِقَ</a:t>
            </a:r>
            <a:endParaRPr lang="ar-SA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11094415" cy="1417320"/>
          </a:xfrm>
          <a:prstGeom prst="roundRect">
            <a:avLst>
              <a:gd name="adj" fmla="val 9032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82935" y="3410712"/>
            <a:ext cx="731520" cy="73152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11" name="icon FaQuoteRigh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446" y="3608222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2960" y="3172968"/>
            <a:ext cx="9585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chemeClr val="accent2"/>
                </a:solidFill>
              </a:rPr>
              <a:t>امام علی (ع) — نهج‌البلاغه، حکمت ۳۳۱</a:t>
            </a:r>
            <a:endParaRPr lang="fa-IR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502152"/>
            <a:ext cx="9585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chemeClr val="tx1"/>
                </a:solidFill>
              </a:rPr>
              <a:t>کمترین چیزی که بر شما لازم است، این است که از نعمت‌های خدا برای نافرمانی او کمک نگیرید.</a:t>
            </a:r>
            <a:endParaRPr lang="fa-IR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087368"/>
            <a:ext cx="9585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أَقَلُّ مَا يَلْزَمُكُمْ لِلَّهِ أَلَّا تَسْتَعِينُوا بِنِعَمِهِ عَلَى مَعَاصِيهِ</a:t>
            </a:r>
            <a:endParaRPr lang="ar-SA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4663440"/>
            <a:ext cx="11094415" cy="1417320"/>
          </a:xfrm>
          <a:prstGeom prst="roundRect">
            <a:avLst>
              <a:gd name="adj" fmla="val 9032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682935" y="5010912"/>
            <a:ext cx="731520" cy="73152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17" name="icon FaQuoteRigh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208422"/>
            <a:ext cx="336499" cy="33649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2960" y="4773168"/>
            <a:ext cx="9585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chemeClr val="accent2"/>
                </a:solidFill>
              </a:rPr>
              <a:t>امام صادق (ع) — اصول کافی</a:t>
            </a:r>
            <a:endParaRPr lang="fa-IR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5102352"/>
            <a:ext cx="9585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chemeClr val="tx1"/>
                </a:solidFill>
              </a:rPr>
              <a:t>شکر هر نعمت، هرچند بزرگ باشد، این است که خدا را بر آن سپاس بگویی.</a:t>
            </a:r>
            <a:endParaRPr lang="fa-IR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687568"/>
            <a:ext cx="9585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شُكْرُ كُلِّ نِعْمَةٍ وَإِنْ عَظُمَتْ أَنْ تَحْمَدَ اللَّهَ عَزَّ وَجَلَّ عَلَيْهَا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الگوهای شکرگزاری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8711946" y="1508760"/>
            <a:ext cx="2377440" cy="237744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2336" y="1889150"/>
            <a:ext cx="1616659" cy="1616659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5" name="icon FaShi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276" y="2317090"/>
            <a:ext cx="760781" cy="76078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58277" y="4114800"/>
            <a:ext cx="3484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2400" b="1" dirty="0">
                <a:solidFill>
                  <a:schemeClr val="tx2"/>
                </a:solidFill>
              </a:rPr>
              <a:t>حضرت نوح (ع)</a:t>
            </a:r>
            <a:endParaRPr lang="fa-IR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49717" y="4709160"/>
            <a:ext cx="33018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700" dirty="0">
                <a:solidFill>
                  <a:schemeClr val="tx1"/>
                </a:solidFill>
              </a:rPr>
              <a:t>قرآن او را «بندهٔ بسیار شکرگزار» (عبداً شکوراً) می‌نامد. (اسراء ۳)</a:t>
            </a:r>
            <a:endParaRPr lang="fa-IR" sz="1700" dirty="0"/>
          </a:p>
        </p:txBody>
      </p:sp>
      <p:sp>
        <p:nvSpPr>
          <p:cNvPr id="8" name="Shape 5"/>
          <p:cNvSpPr/>
          <p:nvPr/>
        </p:nvSpPr>
        <p:spPr>
          <a:xfrm>
            <a:off x="4907128" y="1508760"/>
            <a:ext cx="2377440" cy="237744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87518" y="1889150"/>
            <a:ext cx="1616659" cy="1616659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10" name="icon FaCr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457" y="2317090"/>
            <a:ext cx="760781" cy="7607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53458" y="4114800"/>
            <a:ext cx="3484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2400" b="1" dirty="0">
                <a:solidFill>
                  <a:schemeClr val="tx2"/>
                </a:solidFill>
              </a:rPr>
              <a:t>حضرت سلیمان (ع)</a:t>
            </a:r>
            <a:endParaRPr lang="fa-IR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444898" y="4709160"/>
            <a:ext cx="33018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700" dirty="0">
                <a:solidFill>
                  <a:schemeClr val="tx1"/>
                </a:solidFill>
              </a:rPr>
              <a:t>با همهٔ قدرت می‌گفت: «این از فضل پروردگار من است تا مرا بیازماید که شکر می‌کنم یا ناسپاسی.» (نمل ۴۰)</a:t>
            </a:r>
            <a:endParaRPr lang="fa-IR" sz="1700" dirty="0"/>
          </a:p>
        </p:txBody>
      </p:sp>
      <p:sp>
        <p:nvSpPr>
          <p:cNvPr id="13" name="Shape 9"/>
          <p:cNvSpPr/>
          <p:nvPr/>
        </p:nvSpPr>
        <p:spPr>
          <a:xfrm>
            <a:off x="1102309" y="1508760"/>
            <a:ext cx="2377440" cy="237744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482700" y="1889150"/>
            <a:ext cx="1616659" cy="1616659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15" name="icon FaMo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639" y="2317090"/>
            <a:ext cx="760781" cy="76078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4114800"/>
            <a:ext cx="3484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2400" b="1" dirty="0">
                <a:solidFill>
                  <a:schemeClr val="tx2"/>
                </a:solidFill>
              </a:rPr>
              <a:t>پیامبر اکرم (ص)</a:t>
            </a:r>
            <a:endParaRPr lang="fa-IR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4709160"/>
            <a:ext cx="33018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700" dirty="0">
                <a:solidFill>
                  <a:schemeClr val="tx1"/>
                </a:solidFill>
              </a:rPr>
              <a:t>در روایات آمده است: آن‌قدر در نماز شب می‌ایستاد که پاهایش ورم می‌کرد و می‌فرمود: «آیا بندهٔ شکرگزار نباشم؟»</a:t>
            </a:r>
            <a:endParaRPr lang="fa-I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آثار شکر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10271455" y="1600200"/>
            <a:ext cx="1371600" cy="137160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4" name="icon FaGi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1787" y="1970532"/>
            <a:ext cx="630936" cy="6309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997135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نعمت</a:t>
            </a:r>
            <a:endParaRPr lang="fa-IR" sz="1800" dirty="0"/>
          </a:p>
        </p:txBody>
      </p:sp>
      <p:sp>
        <p:nvSpPr>
          <p:cNvPr id="6" name="Shape 3"/>
          <p:cNvSpPr/>
          <p:nvPr/>
        </p:nvSpPr>
        <p:spPr>
          <a:xfrm>
            <a:off x="8630717" y="2057400"/>
            <a:ext cx="1412138" cy="457200"/>
          </a:xfrm>
          <a:prstGeom prst="leftArrow">
            <a:avLst/>
          </a:prstGeom>
          <a:solidFill>
            <a:srgbClr val="8CC1B2"/>
          </a:solidFill>
          <a:ln w="12700">
            <a:solidFill>
              <a:srgbClr val="8CC1B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30517" y="1600200"/>
            <a:ext cx="1371600" cy="137160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8" name="icon FaEy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849" y="1970532"/>
            <a:ext cx="630936" cy="6309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56197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شناخت نعمت‌دهنده</a:t>
            </a:r>
            <a:endParaRPr lang="fa-IR" sz="1800" dirty="0"/>
          </a:p>
        </p:txBody>
      </p:sp>
      <p:sp>
        <p:nvSpPr>
          <p:cNvPr id="10" name="Shape 6"/>
          <p:cNvSpPr/>
          <p:nvPr/>
        </p:nvSpPr>
        <p:spPr>
          <a:xfrm>
            <a:off x="5389778" y="2057400"/>
            <a:ext cx="1412138" cy="457200"/>
          </a:xfrm>
          <a:prstGeom prst="leftArrow">
            <a:avLst/>
          </a:prstGeom>
          <a:solidFill>
            <a:srgbClr val="8CC1B2"/>
          </a:solidFill>
          <a:ln w="12700">
            <a:solidFill>
              <a:srgbClr val="8CC1B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789578" y="1600200"/>
            <a:ext cx="1371600" cy="137160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12" name="icon FaHandHoldingHear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910" y="1970532"/>
            <a:ext cx="630936" cy="6309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15258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شکر</a:t>
            </a:r>
            <a:endParaRPr lang="fa-IR" sz="1800" dirty="0"/>
          </a:p>
        </p:txBody>
      </p:sp>
      <p:sp>
        <p:nvSpPr>
          <p:cNvPr id="14" name="Shape 9"/>
          <p:cNvSpPr/>
          <p:nvPr/>
        </p:nvSpPr>
        <p:spPr>
          <a:xfrm>
            <a:off x="2148840" y="2057400"/>
            <a:ext cx="1412138" cy="457200"/>
          </a:xfrm>
          <a:prstGeom prst="leftArrow">
            <a:avLst/>
          </a:prstGeom>
          <a:solidFill>
            <a:srgbClr val="8CC1B2"/>
          </a:solidFill>
          <a:ln w="12700">
            <a:solidFill>
              <a:srgbClr val="8CC1B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48640" y="1600200"/>
            <a:ext cx="1371600" cy="137160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6" name="icon FaSeedlin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1970532"/>
            <a:ext cx="630936" cy="63093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7432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افزایش نعمت</a:t>
            </a:r>
            <a:endParaRPr lang="fa-IR" sz="1800" dirty="0"/>
          </a:p>
        </p:txBody>
      </p:sp>
      <p:sp>
        <p:nvSpPr>
          <p:cNvPr id="18" name="Shape 12"/>
          <p:cNvSpPr/>
          <p:nvPr/>
        </p:nvSpPr>
        <p:spPr>
          <a:xfrm>
            <a:off x="8158277" y="3931920"/>
            <a:ext cx="3484778" cy="2148840"/>
          </a:xfrm>
          <a:prstGeom prst="roundRect">
            <a:avLst>
              <a:gd name="adj" fmla="val 5957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0774375" y="4160520"/>
            <a:ext cx="640080" cy="640080"/>
          </a:xfrm>
          <a:prstGeom prst="ellipse">
            <a:avLst/>
          </a:prstGeom>
          <a:solidFill>
            <a:srgbClr val="1F8A7A"/>
          </a:solidFill>
          <a:ln w="12700">
            <a:solidFill>
              <a:srgbClr val="1F8A7A"/>
            </a:solidFill>
            <a:prstDash val="solid"/>
          </a:ln>
        </p:spPr>
      </p:sp>
      <p:pic>
        <p:nvPicPr>
          <p:cNvPr id="20" name="icon FaCheckCircl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7197" y="4333342"/>
            <a:ext cx="294437" cy="29443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386877" y="489204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900" b="1" dirty="0">
                <a:solidFill>
                  <a:schemeClr val="tx2"/>
                </a:solidFill>
              </a:rPr>
              <a:t>رضایت خدا</a:t>
            </a:r>
            <a:endParaRPr lang="fa-IR" sz="1900" dirty="0"/>
          </a:p>
        </p:txBody>
      </p:sp>
      <p:sp>
        <p:nvSpPr>
          <p:cNvPr id="22" name="Text 15"/>
          <p:cNvSpPr txBox="1"/>
          <p:nvPr/>
        </p:nvSpPr>
        <p:spPr>
          <a:xfrm>
            <a:off x="8386877" y="5303520"/>
            <a:ext cx="30275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«و اگر شکر کنید، آن را برای شما می‌پسندد.» (زمر ۷)</a:t>
            </a:r>
            <a:endParaRPr lang="fa-IR" sz="1500" dirty="0"/>
          </a:p>
        </p:txBody>
      </p:sp>
      <p:sp>
        <p:nvSpPr>
          <p:cNvPr id="23" name="Shape 16"/>
          <p:cNvSpPr/>
          <p:nvPr/>
        </p:nvSpPr>
        <p:spPr>
          <a:xfrm>
            <a:off x="4353458" y="3931920"/>
            <a:ext cx="3484778" cy="2148840"/>
          </a:xfrm>
          <a:prstGeom prst="roundRect">
            <a:avLst>
              <a:gd name="adj" fmla="val 5957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969557" y="4160520"/>
            <a:ext cx="640080" cy="640080"/>
          </a:xfrm>
          <a:prstGeom prst="ellipse">
            <a:avLst/>
          </a:prstGeom>
          <a:solidFill>
            <a:srgbClr val="1F8A7A"/>
          </a:solidFill>
          <a:ln w="12700">
            <a:solidFill>
              <a:srgbClr val="1F8A7A"/>
            </a:solidFill>
            <a:prstDash val="solid"/>
          </a:ln>
        </p:spPr>
      </p:sp>
      <p:pic>
        <p:nvPicPr>
          <p:cNvPr id="25" name="icon FaSmil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2378" y="4333342"/>
            <a:ext cx="294437" cy="29443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582058" y="489204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900" b="1" dirty="0">
                <a:solidFill>
                  <a:schemeClr val="tx2"/>
                </a:solidFill>
              </a:rPr>
              <a:t>آرامش و رضایت درونی</a:t>
            </a:r>
            <a:endParaRPr lang="fa-IR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4582058" y="5303520"/>
            <a:ext cx="30275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دل شاکر به داشته‌ها می‌نگرد، نه به نداشته‌ها.</a:t>
            </a:r>
            <a:endParaRPr lang="fa-IR" sz="1500" dirty="0"/>
          </a:p>
        </p:txBody>
      </p:sp>
      <p:sp>
        <p:nvSpPr>
          <p:cNvPr id="28" name="Shape 20"/>
          <p:cNvSpPr/>
          <p:nvPr/>
        </p:nvSpPr>
        <p:spPr>
          <a:xfrm>
            <a:off x="548640" y="3931920"/>
            <a:ext cx="3484778" cy="2148840"/>
          </a:xfrm>
          <a:prstGeom prst="roundRect">
            <a:avLst>
              <a:gd name="adj" fmla="val 5957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164738" y="4160520"/>
            <a:ext cx="640080" cy="640080"/>
          </a:xfrm>
          <a:prstGeom prst="ellipse">
            <a:avLst/>
          </a:prstGeom>
          <a:solidFill>
            <a:srgbClr val="1F8A7A"/>
          </a:solidFill>
          <a:ln w="12700">
            <a:solidFill>
              <a:srgbClr val="1F8A7A"/>
            </a:solidFill>
            <a:prstDash val="solid"/>
          </a:ln>
        </p:spPr>
      </p:sp>
      <p:pic>
        <p:nvPicPr>
          <p:cNvPr id="30" name="icon FaUsers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4333342"/>
            <a:ext cx="294437" cy="294437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77240" y="4892040"/>
            <a:ext cx="30275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900" b="1" dirty="0">
                <a:solidFill>
                  <a:schemeClr val="tx2"/>
                </a:solidFill>
              </a:rPr>
              <a:t>محبت و پیوند انسانی</a:t>
            </a:r>
            <a:endParaRPr lang="fa-IR" sz="1900" dirty="0"/>
          </a:p>
        </p:txBody>
      </p:sp>
      <p:sp>
        <p:nvSpPr>
          <p:cNvPr id="32" name="Text 23"/>
          <p:cNvSpPr txBox="1"/>
          <p:nvPr/>
        </p:nvSpPr>
        <p:spPr>
          <a:xfrm>
            <a:off x="777240" y="5303520"/>
            <a:ext cx="30275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قدردانی از مردم، روابط را گرم و پایدار می‌کند.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شکر و کفران نعمت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6324448" y="1463040"/>
            <a:ext cx="5318608" cy="3520440"/>
          </a:xfrm>
          <a:prstGeom prst="roundRect">
            <a:avLst>
              <a:gd name="adj" fmla="val 3636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82935" y="16916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con FaSmileBea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0446" y="1889150"/>
            <a:ext cx="336499" cy="33649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98768" y="1691640"/>
            <a:ext cx="3855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600" b="1" dirty="0">
                <a:solidFill>
                  <a:schemeClr val="bg1"/>
                </a:solidFill>
              </a:rPr>
              <a:t>شکرگزاری</a:t>
            </a:r>
            <a:endParaRPr lang="fa-IR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644488" y="2697480"/>
            <a:ext cx="46785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bg1"/>
                </a:solidFill>
              </a:rPr>
              <a:t>نعمت پایدار و افزون می‌شود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bg1"/>
                </a:solidFill>
              </a:rPr>
              <a:t>خدا از بنده راضی می‌شود (زمر ۷)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bg1"/>
                </a:solidFill>
              </a:rPr>
              <a:t>آرامش و رضایت درونی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bg1"/>
                </a:solidFill>
              </a:rPr>
              <a:t>قدرشناسی در روابط انسانی</a:t>
            </a:r>
            <a:endParaRPr lang="fa-IR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318608" cy="3520440"/>
          </a:xfrm>
          <a:prstGeom prst="roundRect">
            <a:avLst>
              <a:gd name="adj" fmla="val 3636"/>
            </a:avLst>
          </a:prstGeom>
          <a:solidFill>
            <a:srgbClr val="C8674A"/>
          </a:solidFill>
          <a:ln w="12700">
            <a:solidFill>
              <a:srgbClr val="C867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07128" y="169164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con FaFr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638" y="1889150"/>
            <a:ext cx="336499" cy="33649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1691640"/>
            <a:ext cx="3855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600" b="1" dirty="0">
                <a:solidFill>
                  <a:schemeClr val="bg1"/>
                </a:solidFill>
              </a:rPr>
              <a:t>کفران نعمت</a:t>
            </a:r>
            <a:endParaRPr lang="fa-IR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697480"/>
            <a:ext cx="46785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bg1"/>
                </a:solidFill>
              </a:rPr>
              <a:t>نعمت از دست می‌رود یا برکتش کم می‌شود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bg1"/>
                </a:solidFill>
              </a:rPr>
              <a:t>حسرت، حرص و نارضایتی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bg1"/>
                </a:solidFill>
              </a:rPr>
              <a:t>غفلت از نعمت‌دهنده و غرور</a:t>
            </a:r>
            <a:endParaRPr lang="fa-IR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bg1"/>
                </a:solidFill>
              </a:rPr>
              <a:t>هشدار به عذاب سخت (ابراهیم ۷)</a:t>
            </a:r>
            <a:endParaRPr lang="fa-IR" sz="1700" dirty="0"/>
          </a:p>
        </p:txBody>
      </p:sp>
      <p:sp>
        <p:nvSpPr>
          <p:cNvPr id="13" name="Shape 9"/>
          <p:cNvSpPr/>
          <p:nvPr/>
        </p:nvSpPr>
        <p:spPr>
          <a:xfrm>
            <a:off x="548640" y="5212080"/>
            <a:ext cx="11094415" cy="914400"/>
          </a:xfrm>
          <a:prstGeom prst="roundRect">
            <a:avLst>
              <a:gd name="adj" fmla="val 14000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52120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نحل ۱۱۲: خدا شهری را مثل می‌زند که امن و آرام بود و روزی‌اش از هر سو می‌رسید؛ پس نعمت‌های خدا را ناسپاسی کردند و خدا لباس گرسنگی و ترس را بر آنان پوشاند.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راه‌های رسیدن به شکرگزاری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694944" y="1609344"/>
            <a:ext cx="3566160" cy="4572000"/>
          </a:xfrm>
          <a:prstGeom prst="rect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3566160" cy="457200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9226" y="2536546"/>
            <a:ext cx="2424989" cy="2424989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6" name="icon FaLeaf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134" y="3178454"/>
            <a:ext cx="1141171" cy="114117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80560" y="1463040"/>
            <a:ext cx="7162495" cy="850392"/>
          </a:xfrm>
          <a:prstGeom prst="roundRect">
            <a:avLst>
              <a:gd name="adj" fmla="val 1505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11535" y="1591056"/>
            <a:ext cx="594360" cy="59436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911535" y="15910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2000" b="1" dirty="0">
                <a:solidFill>
                  <a:srgbClr val="C9A24B"/>
                </a:solidFill>
              </a:rPr>
              <a:t>۱</a:t>
            </a:r>
            <a:endParaRPr lang="fa-IR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1554480"/>
            <a:ext cx="6065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شناخت نعمت‌ها</a:t>
            </a:r>
            <a:endParaRPr lang="fa-IR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1920240"/>
            <a:ext cx="6065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نعمت‌های هر روز را یادآوری و فهرست کن.</a:t>
            </a:r>
            <a:endParaRPr lang="fa-IR" sz="1500" dirty="0"/>
          </a:p>
        </p:txBody>
      </p:sp>
      <p:sp>
        <p:nvSpPr>
          <p:cNvPr id="12" name="Shape 9"/>
          <p:cNvSpPr/>
          <p:nvPr/>
        </p:nvSpPr>
        <p:spPr>
          <a:xfrm>
            <a:off x="4480560" y="2432304"/>
            <a:ext cx="7162495" cy="850392"/>
          </a:xfrm>
          <a:prstGeom prst="roundRect">
            <a:avLst>
              <a:gd name="adj" fmla="val 1505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11535" y="2560320"/>
            <a:ext cx="594360" cy="59436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11535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2000" b="1" dirty="0">
                <a:solidFill>
                  <a:srgbClr val="C9A24B"/>
                </a:solidFill>
              </a:rPr>
              <a:t>۲</a:t>
            </a:r>
            <a:endParaRPr lang="fa-IR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2523744"/>
            <a:ext cx="6065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نگاه به پایین‌تر در امور دنیا</a:t>
            </a:r>
            <a:endParaRPr lang="fa-IR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709160" y="2889504"/>
            <a:ext cx="6065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به کسی بنگر که کمتر داشته دارد، تا قدر داشته‌ها را بدانی.</a:t>
            </a:r>
            <a:endParaRPr lang="fa-IR" sz="1500" dirty="0"/>
          </a:p>
        </p:txBody>
      </p:sp>
      <p:sp>
        <p:nvSpPr>
          <p:cNvPr id="17" name="Shape 14"/>
          <p:cNvSpPr/>
          <p:nvPr/>
        </p:nvSpPr>
        <p:spPr>
          <a:xfrm>
            <a:off x="4480560" y="3401568"/>
            <a:ext cx="7162495" cy="850392"/>
          </a:xfrm>
          <a:prstGeom prst="roundRect">
            <a:avLst>
              <a:gd name="adj" fmla="val 1505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911535" y="3529584"/>
            <a:ext cx="594360" cy="59436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911535" y="35295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2000" b="1" dirty="0">
                <a:solidFill>
                  <a:srgbClr val="C9A24B"/>
                </a:solidFill>
              </a:rPr>
              <a:t>۳</a:t>
            </a:r>
            <a:endParaRPr lang="fa-IR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4709160" y="3493008"/>
            <a:ext cx="6065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شناخت نعمت‌دهنده</a:t>
            </a:r>
            <a:endParaRPr lang="fa-IR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09160" y="3858768"/>
            <a:ext cx="6065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سرچشمهٔ همهٔ نعمت‌ها را در نظر داشته باش.</a:t>
            </a:r>
            <a:endParaRPr lang="fa-IR" sz="1500" dirty="0"/>
          </a:p>
        </p:txBody>
      </p:sp>
      <p:sp>
        <p:nvSpPr>
          <p:cNvPr id="22" name="Shape 19"/>
          <p:cNvSpPr/>
          <p:nvPr/>
        </p:nvSpPr>
        <p:spPr>
          <a:xfrm>
            <a:off x="4480560" y="4370832"/>
            <a:ext cx="7162495" cy="850392"/>
          </a:xfrm>
          <a:prstGeom prst="roundRect">
            <a:avLst>
              <a:gd name="adj" fmla="val 1505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11535" y="4498848"/>
            <a:ext cx="594360" cy="59436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911535" y="44988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2000" b="1" dirty="0">
                <a:solidFill>
                  <a:srgbClr val="C9A24B"/>
                </a:solidFill>
              </a:rPr>
              <a:t>۴</a:t>
            </a:r>
            <a:endParaRPr lang="fa-IR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4709160" y="4462272"/>
            <a:ext cx="6065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سپاس زبانی و عملی</a:t>
            </a:r>
            <a:endParaRPr lang="fa-IR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09160" y="4828032"/>
            <a:ext cx="6065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حمد خدا بگو و نعمت را در خدمت مردم و راه درست خرج کن.</a:t>
            </a:r>
            <a:endParaRPr lang="fa-IR" sz="1500" dirty="0"/>
          </a:p>
        </p:txBody>
      </p:sp>
      <p:sp>
        <p:nvSpPr>
          <p:cNvPr id="27" name="Shape 24"/>
          <p:cNvSpPr/>
          <p:nvPr/>
        </p:nvSpPr>
        <p:spPr>
          <a:xfrm>
            <a:off x="4480560" y="5340096"/>
            <a:ext cx="7162495" cy="850392"/>
          </a:xfrm>
          <a:prstGeom prst="roundRect">
            <a:avLst>
              <a:gd name="adj" fmla="val 1505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911535" y="5468112"/>
            <a:ext cx="594360" cy="59436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911535" y="54681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2000" b="1" dirty="0">
                <a:solidFill>
                  <a:srgbClr val="C9A24B"/>
                </a:solidFill>
              </a:rPr>
              <a:t>۵</a:t>
            </a:r>
            <a:endParaRPr lang="fa-IR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4709160" y="5431536"/>
            <a:ext cx="6065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پرهیز از گناه با نعمت</a:t>
            </a:r>
            <a:endParaRPr lang="fa-IR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09160" y="5797296"/>
            <a:ext cx="6065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از نعمت خدا برای نافرمانی او کمک نگیر.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042" y="1750162"/>
            <a:ext cx="3357677" cy="3357677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4" name="icon FaMountai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" y="2638958"/>
            <a:ext cx="1580083" cy="158008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1737360"/>
            <a:ext cx="6062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accent1"/>
                </a:solidFill>
              </a:rPr>
              <a:t>بخش دوم</a:t>
            </a:r>
            <a:endParaRPr lang="fa-IR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2194560"/>
            <a:ext cx="6062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9600" b="1" dirty="0">
                <a:solidFill>
                  <a:schemeClr val="bg1"/>
                </a:solidFill>
              </a:rPr>
              <a:t>توکل</a:t>
            </a:r>
            <a:endParaRPr lang="fa-IR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4023360"/>
            <a:ext cx="606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600" dirty="0">
                <a:solidFill>
                  <a:schemeClr val="accent3"/>
                </a:solidFill>
              </a:rPr>
              <a:t>اعتماد به خدا و سپردن کارها به او</a:t>
            </a:r>
            <a:endParaRPr lang="fa-IR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5120640"/>
            <a:ext cx="606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وَعَلَى اللَّهِ فَلْيَتَوَكَّلِ الْمُؤْمِنُونَ</a:t>
            </a:r>
            <a:endParaRPr lang="ar-SA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5760720"/>
            <a:ext cx="6062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accent3"/>
                </a:solidFill>
              </a:rPr>
              <a:t>آل‌عمران، آیهٔ ۱۶۰</a:t>
            </a:r>
            <a:endParaRPr lang="fa-IR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معنای توکل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7619695" y="1463040"/>
            <a:ext cx="4023360" cy="457200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63433" y="2381098"/>
            <a:ext cx="2735885" cy="2735885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5" name="icon FaRou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7638" y="3105302"/>
            <a:ext cx="1287475" cy="12874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63040"/>
            <a:ext cx="6613855" cy="2011680"/>
          </a:xfrm>
          <a:prstGeom prst="roundRect">
            <a:avLst>
              <a:gd name="adj" fmla="val 636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691640"/>
            <a:ext cx="5973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chemeClr val="accent2"/>
                </a:solidFill>
              </a:rPr>
              <a:t>در لغت</a:t>
            </a:r>
            <a:endParaRPr lang="fa-IR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194560"/>
            <a:ext cx="5973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dirty="0">
                <a:solidFill>
                  <a:schemeClr val="tx1"/>
                </a:solidFill>
              </a:rPr>
              <a:t>توکل از ریشهٔ «وَکَلَ» است؛ یعنی کار را به دیگری سپردن و او را وکیل گرفتن.</a:t>
            </a:r>
            <a:endParaRPr lang="fa-IR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6613855" cy="2377440"/>
          </a:xfrm>
          <a:prstGeom prst="roundRect">
            <a:avLst>
              <a:gd name="adj" fmla="val 5385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3886200"/>
            <a:ext cx="5973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chemeClr val="accent1"/>
                </a:solidFill>
              </a:rPr>
              <a:t>در اصطلاح</a:t>
            </a:r>
            <a:endParaRPr lang="fa-IR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389120"/>
            <a:ext cx="5973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dirty="0">
                <a:solidFill>
                  <a:schemeClr val="bg1"/>
                </a:solidFill>
              </a:rPr>
              <a:t>اعتماد و اطمینان به خدا و سپردن کارها به او، پس از به‌کار گرفتن اسباب؛ با باور به اینکه سرچشمهٔ همهٔ تأثیرها اوست.</a:t>
            </a:r>
            <a:endParaRPr lang="fa-I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توکل در قرآن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4415" cy="1417320"/>
          </a:xfrm>
          <a:prstGeom prst="roundRect">
            <a:avLst>
              <a:gd name="adj" fmla="val 9032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54880" y="1554480"/>
            <a:ext cx="66138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فَإِذَا عَزَمْتَ فَتَوَكَّلْ عَلَى اللَّهِ إِنَّ اللَّهَ يُحِبُّ الْمُتَوَكِّلِينَ</a:t>
            </a:r>
            <a:endParaRPr lang="ar-SA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«پس چون تصمیم گرفتی، بر خدا توکل کن؛ خدا توکل‌کنندگان را دوست دارد.»</a:t>
            </a:r>
            <a:endParaRPr lang="fa-IR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chemeClr val="accent3"/>
                </a:solidFill>
              </a:rPr>
              <a:t>آل‌عمران ۱۵۹</a:t>
            </a:r>
            <a:endParaRPr lang="fa-IR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1094415" cy="1417320"/>
          </a:xfrm>
          <a:prstGeom prst="roundRect">
            <a:avLst>
              <a:gd name="adj" fmla="val 9032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3154680"/>
            <a:ext cx="66138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وَمَن يَتَوَكَّلْ عَلَى اللَّهِ فَهُوَ حَسْبُهُ إِنَّ اللَّهَ بَالِغُ أَمْرِهِ</a:t>
            </a:r>
            <a:endParaRPr lang="ar-SA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04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«و هر کس بر خدا توکل کند، او برایش کافی است؛ خدا فرمان خود را به انجام می‌رساند.»</a:t>
            </a:r>
            <a:endParaRPr lang="fa-I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69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chemeClr val="accent3"/>
                </a:solidFill>
              </a:rPr>
              <a:t>طلاق ۳</a:t>
            </a:r>
            <a:endParaRPr lang="fa-IR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94415" cy="1417320"/>
          </a:xfrm>
          <a:prstGeom prst="roundRect">
            <a:avLst>
              <a:gd name="adj" fmla="val 9032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4754880"/>
            <a:ext cx="66138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وَعَلَى اللَّهِ فَتَوَكَّلُوا إِن كُنتُم مُّؤْمِنِينَ</a:t>
            </a:r>
            <a:endParaRPr lang="ar-SA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006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«و اگر مؤمنید، بر خدا توکل کنید.»</a:t>
            </a:r>
            <a:endParaRPr lang="fa-IR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669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chemeClr val="accent3"/>
                </a:solidFill>
              </a:rPr>
              <a:t>مائده ۲۳</a:t>
            </a:r>
            <a:endParaRPr lang="fa-I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توکل یعنی تلاش، نه بیکاری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800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اعْقِلْهَا وَتَوَكَّلْ</a:t>
            </a:r>
            <a:endParaRPr lang="ar-SA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788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2100" b="1" dirty="0">
                <a:solidFill>
                  <a:schemeClr val="bg1"/>
                </a:solidFill>
              </a:rPr>
              <a:t>«شترت را ببند و [سپس] توکل کن.»</a:t>
            </a:r>
            <a:endParaRPr lang="fa-IR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2044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chemeClr val="accent3"/>
                </a:solidFill>
              </a:rPr>
              <a:t>روایت شده مردی از پیامبر (ص) پرسید: شترم را رها کنم و توکل کنم، یا ببندم و توکل کنم؟ حضرت فرمود: «ببند و توکل کن.»</a:t>
            </a:r>
            <a:endParaRPr lang="fa-IR" sz="17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333695" cy="1371600"/>
          </a:xfrm>
          <a:prstGeom prst="roundRect">
            <a:avLst>
              <a:gd name="adj" fmla="val 9333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37215" y="1783080"/>
            <a:ext cx="731520" cy="73152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9" name="icon FaTool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4726" y="1980590"/>
            <a:ext cx="336499" cy="33649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0" y="173736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chemeClr val="tx1"/>
                </a:solidFill>
              </a:rPr>
              <a:t>تلاش و به‌کارگیری اسباب</a:t>
            </a:r>
            <a:endParaRPr lang="fa-IR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212848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برنامه‌ریزی، کار، مشورت، پیشگیری</a:t>
            </a:r>
            <a:endParaRPr lang="fa-IR" sz="1500" dirty="0"/>
          </a:p>
        </p:txBody>
      </p:sp>
      <p:sp>
        <p:nvSpPr>
          <p:cNvPr id="12" name="Shape 9"/>
          <p:cNvSpPr/>
          <p:nvPr/>
        </p:nvSpPr>
        <p:spPr>
          <a:xfrm>
            <a:off x="6309360" y="3063240"/>
            <a:ext cx="5333695" cy="1371600"/>
          </a:xfrm>
          <a:prstGeom prst="roundRect">
            <a:avLst>
              <a:gd name="adj" fmla="val 9333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637215" y="3383280"/>
            <a:ext cx="731520" cy="73152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14" name="icon FaPrayingHand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4726" y="3580790"/>
            <a:ext cx="336499" cy="33649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583680" y="333756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chemeClr val="tx1"/>
                </a:solidFill>
              </a:rPr>
              <a:t>اعتماد به خدا</a:t>
            </a:r>
            <a:endParaRPr lang="fa-IR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3813048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باور به اینکه اثر نهایی از اوست</a:t>
            </a:r>
            <a:endParaRPr lang="fa-IR" sz="1500" dirty="0"/>
          </a:p>
        </p:txBody>
      </p:sp>
      <p:sp>
        <p:nvSpPr>
          <p:cNvPr id="17" name="Shape 13"/>
          <p:cNvSpPr/>
          <p:nvPr/>
        </p:nvSpPr>
        <p:spPr>
          <a:xfrm>
            <a:off x="6309360" y="4663440"/>
            <a:ext cx="5333695" cy="1371600"/>
          </a:xfrm>
          <a:prstGeom prst="roundRect">
            <a:avLst>
              <a:gd name="adj" fmla="val 9333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637215" y="4983480"/>
            <a:ext cx="731520" cy="73152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19" name="icon FaCheckCirc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4726" y="5180990"/>
            <a:ext cx="336499" cy="33649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83680" y="493776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chemeClr val="tx1"/>
                </a:solidFill>
              </a:rPr>
              <a:t>توکل راستین</a:t>
            </a:r>
            <a:endParaRPr lang="fa-IR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583680" y="5413248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حرکت همراه با آرامش دل</a:t>
            </a:r>
            <a:endParaRPr lang="fa-IR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2834640"/>
            <a:ext cx="5333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800" b="1" dirty="0">
                <a:solidFill>
                  <a:schemeClr val="accent2"/>
                </a:solidFill>
              </a:rPr>
              <a:t>+</a:t>
            </a:r>
            <a:endParaRPr lang="fa-IR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4434840"/>
            <a:ext cx="5333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800" b="1" dirty="0">
                <a:solidFill>
                  <a:schemeClr val="accent2"/>
                </a:solidFill>
              </a:rPr>
              <a:t>=</a:t>
            </a:r>
            <a:endParaRPr lang="fa-I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مراتب توکل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8158277" y="3017520"/>
            <a:ext cx="3484778" cy="3017520"/>
          </a:xfrm>
          <a:prstGeom prst="roundRect">
            <a:avLst>
              <a:gd name="adj" fmla="val 4242"/>
            </a:avLst>
          </a:prstGeom>
          <a:solidFill>
            <a:srgbClr val="8CC1B2"/>
          </a:solidFill>
          <a:ln w="12700">
            <a:solidFill>
              <a:srgbClr val="8CC1B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32597" y="3154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4800" b="1" dirty="0">
                <a:solidFill>
                  <a:srgbClr val="0B5048"/>
                </a:solidFill>
              </a:rPr>
              <a:t>۱</a:t>
            </a:r>
            <a:endParaRPr lang="fa-IR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432597" y="393192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chemeClr val="tx2"/>
                </a:solidFill>
              </a:rPr>
              <a:t>مرتبهٔ اول</a:t>
            </a:r>
            <a:endParaRPr lang="fa-IR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32597" y="429768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100" b="1" dirty="0">
                <a:solidFill>
                  <a:schemeClr val="tx1"/>
                </a:solidFill>
              </a:rPr>
              <a:t>اعتماد به وکیل امین</a:t>
            </a:r>
            <a:endParaRPr lang="fa-IR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432597" y="4846320"/>
            <a:ext cx="29361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dirty="0">
                <a:solidFill>
                  <a:schemeClr val="tx1"/>
                </a:solidFill>
              </a:rPr>
              <a:t>مانند اعتماد به وکیلی توانا و دلسوز که کارت را به او سپرده‌ای.</a:t>
            </a:r>
            <a:endParaRPr lang="fa-IR" sz="1600" dirty="0"/>
          </a:p>
        </p:txBody>
      </p:sp>
      <p:sp>
        <p:nvSpPr>
          <p:cNvPr id="8" name="Shape 6"/>
          <p:cNvSpPr/>
          <p:nvPr/>
        </p:nvSpPr>
        <p:spPr>
          <a:xfrm>
            <a:off x="4353458" y="2194560"/>
            <a:ext cx="3484778" cy="3840480"/>
          </a:xfrm>
          <a:prstGeom prst="roundRect">
            <a:avLst>
              <a:gd name="adj" fmla="val 3674"/>
            </a:avLst>
          </a:prstGeom>
          <a:solidFill>
            <a:srgbClr val="1F8A7A"/>
          </a:solidFill>
          <a:ln w="12700">
            <a:solidFill>
              <a:srgbClr val="1F8A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27778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4800" b="1" dirty="0">
                <a:solidFill>
                  <a:srgbClr val="C9A24B"/>
                </a:solidFill>
              </a:rPr>
              <a:t>۲</a:t>
            </a:r>
            <a:endParaRPr lang="fa-IR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627778" y="310896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chemeClr val="accent3"/>
                </a:solidFill>
              </a:rPr>
              <a:t>مرتبهٔ دوم</a:t>
            </a:r>
            <a:endParaRPr lang="fa-I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7778" y="34747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100" b="1" dirty="0">
                <a:solidFill>
                  <a:schemeClr val="bg1"/>
                </a:solidFill>
              </a:rPr>
              <a:t>اعتماد کودک به مادر</a:t>
            </a:r>
            <a:endParaRPr lang="fa-IR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627778" y="4023360"/>
            <a:ext cx="29361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dirty="0">
                <a:solidFill>
                  <a:schemeClr val="bg1"/>
                </a:solidFill>
              </a:rPr>
              <a:t>دل تنها به خدا نظر دارد، چنان‌که کودک در دشواری جز مادر را نمی‌جوید.</a:t>
            </a:r>
            <a:endParaRPr lang="fa-IR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1463040"/>
            <a:ext cx="3484778" cy="4572000"/>
          </a:xfrm>
          <a:prstGeom prst="roundRect">
            <a:avLst>
              <a:gd name="adj" fmla="val 3674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16002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4800" b="1" dirty="0">
                <a:solidFill>
                  <a:srgbClr val="C9A24B"/>
                </a:solidFill>
              </a:rPr>
              <a:t>۳</a:t>
            </a:r>
            <a:endParaRPr lang="fa-IR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37744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chemeClr val="accent3"/>
                </a:solidFill>
              </a:rPr>
              <a:t>مرتبهٔ سوم</a:t>
            </a:r>
            <a:endParaRPr lang="fa-IR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74320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100" b="1" dirty="0">
                <a:solidFill>
                  <a:schemeClr val="bg1"/>
                </a:solidFill>
              </a:rPr>
              <a:t>تسلیم کامل</a:t>
            </a:r>
            <a:endParaRPr lang="fa-IR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291840"/>
            <a:ext cx="293613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dirty="0">
                <a:solidFill>
                  <a:schemeClr val="bg1"/>
                </a:solidFill>
              </a:rPr>
              <a:t>انسان خود را کاملاً در اختیار اراده و حکمت خدا می‌بیند و آرام است.</a:t>
            </a:r>
            <a:endParaRPr lang="fa-I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ریشه‌های توکل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6255868" y="1463040"/>
            <a:ext cx="5387188" cy="2194560"/>
          </a:xfrm>
          <a:prstGeom prst="roundRect">
            <a:avLst>
              <a:gd name="adj" fmla="val 5833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00055" y="1783080"/>
            <a:ext cx="868680" cy="86868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5" name="icon FaGlobeAsi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4599" y="2017624"/>
            <a:ext cx="399593" cy="3995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30188" y="178308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400" b="1" dirty="0">
                <a:solidFill>
                  <a:schemeClr val="bg1"/>
                </a:solidFill>
              </a:rPr>
              <a:t>توحید افعالی</a:t>
            </a:r>
            <a:endParaRPr lang="fa-IR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530188" y="2743200"/>
            <a:ext cx="48385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chemeClr val="bg1"/>
                </a:solidFill>
              </a:rPr>
              <a:t>باور به اینکه مؤثر حقیقی در جهان خداست و دیگر اسباب به اذن او اثر دارند.</a:t>
            </a:r>
            <a:endParaRPr lang="fa-IR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387188" cy="2194560"/>
          </a:xfrm>
          <a:prstGeom prst="roundRect">
            <a:avLst>
              <a:gd name="adj" fmla="val 5833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92828" y="1783080"/>
            <a:ext cx="868680" cy="86868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10" name="icon FaEy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371" y="2017624"/>
            <a:ext cx="399593" cy="3995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178308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400" b="1" dirty="0">
                <a:solidFill>
                  <a:schemeClr val="tx2"/>
                </a:solidFill>
              </a:rPr>
              <a:t>شناخت صفات خدا</a:t>
            </a:r>
            <a:endParaRPr lang="fa-IR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743200"/>
            <a:ext cx="48385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chemeClr val="tx1"/>
                </a:solidFill>
              </a:rPr>
              <a:t>آگاهی از علم، قدرت و رحمت بی‌پایان او.</a:t>
            </a:r>
            <a:endParaRPr lang="fa-IR" sz="1700" dirty="0"/>
          </a:p>
        </p:txBody>
      </p:sp>
      <p:sp>
        <p:nvSpPr>
          <p:cNvPr id="13" name="Shape 9"/>
          <p:cNvSpPr/>
          <p:nvPr/>
        </p:nvSpPr>
        <p:spPr>
          <a:xfrm>
            <a:off x="6255868" y="3840480"/>
            <a:ext cx="5387188" cy="2194560"/>
          </a:xfrm>
          <a:prstGeom prst="roundRect">
            <a:avLst>
              <a:gd name="adj" fmla="val 5833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500055" y="4160520"/>
            <a:ext cx="868680" cy="868680"/>
          </a:xfrm>
          <a:prstGeom prst="ellipse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15" name="icon FaHear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599" y="4395064"/>
            <a:ext cx="399593" cy="3995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30188" y="416052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400" b="1" dirty="0">
                <a:solidFill>
                  <a:schemeClr val="tx2"/>
                </a:solidFill>
              </a:rPr>
              <a:t>حسن ظن به خدا</a:t>
            </a:r>
            <a:endParaRPr lang="fa-IR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530188" y="5120640"/>
            <a:ext cx="48385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chemeClr val="tx1"/>
                </a:solidFill>
              </a:rPr>
              <a:t>گمان نیک به تدبیر و حکمت پروردگار.</a:t>
            </a:r>
            <a:endParaRPr lang="fa-IR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840480"/>
            <a:ext cx="5387188" cy="2194560"/>
          </a:xfrm>
          <a:prstGeom prst="roundRect">
            <a:avLst>
              <a:gd name="adj" fmla="val 5833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92828" y="4160520"/>
            <a:ext cx="868680" cy="86868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0" name="icon FaCheckCirc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7371" y="4395064"/>
            <a:ext cx="399593" cy="3995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16052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400" b="1" dirty="0">
                <a:solidFill>
                  <a:schemeClr val="bg1"/>
                </a:solidFill>
              </a:rPr>
              <a:t>یقین به وعده‌های او</a:t>
            </a:r>
            <a:endParaRPr lang="fa-IR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120640"/>
            <a:ext cx="48385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chemeClr val="bg1"/>
                </a:solidFill>
              </a:rPr>
              <a:t>اطمینان به وعده‌هایی چون «فَهُوَ حَسْبُهُ» (طلاق ۳).</a:t>
            </a:r>
            <a:endParaRPr lang="fa-I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آثار توکل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937760" cy="4572000"/>
          </a:xfrm>
          <a:prstGeom prst="roundRect">
            <a:avLst>
              <a:gd name="adj" fmla="val 2800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الْغِنَى وَالْعِزُّ يَجُولَانِ فَإِذَا ظَفِرَا بِمَوْضِعِ التَّوَكُّلِ أَوْطَنَا</a:t>
            </a:r>
            <a:endParaRPr lang="ar-SA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dirty="0">
                <a:solidFill>
                  <a:schemeClr val="bg1"/>
                </a:solidFill>
              </a:rPr>
              <a:t>«بی‌نیازی و عزت در گردشند؛ چون به جایگاه توکل برسند، همان‌جا ساکن می‌شوند.»</a:t>
            </a:r>
            <a:endParaRPr lang="fa-IR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440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chemeClr val="accent3"/>
                </a:solidFill>
              </a:rPr>
              <a:t>امام صادق (ع) — اصول کافی</a:t>
            </a:r>
            <a:endParaRPr lang="fa-IR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463040"/>
            <a:ext cx="5882335" cy="1417320"/>
          </a:xfrm>
          <a:prstGeom prst="roundRect">
            <a:avLst>
              <a:gd name="adj" fmla="val 9032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37215" y="1801368"/>
            <a:ext cx="731520" cy="731520"/>
          </a:xfrm>
          <a:prstGeom prst="ellipse">
            <a:avLst/>
          </a:prstGeom>
          <a:solidFill>
            <a:srgbClr val="1F8A7A"/>
          </a:solidFill>
          <a:ln w="12700">
            <a:solidFill>
              <a:srgbClr val="1F8A7A"/>
            </a:solidFill>
            <a:prstDash val="solid"/>
          </a:ln>
        </p:spPr>
      </p:sp>
      <p:pic>
        <p:nvPicPr>
          <p:cNvPr id="9" name="icon FaDov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4726" y="1998878"/>
            <a:ext cx="336499" cy="33649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035040" y="1645920"/>
            <a:ext cx="4419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آرامش و رفع اضطراب</a:t>
            </a:r>
            <a:endParaRPr lang="fa-IR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2103120"/>
            <a:ext cx="4419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کسی که کار را به خدا سپرده، از نگرانی نتیجه آزاد می‌شود.</a:t>
            </a:r>
            <a:endParaRPr lang="fa-IR" sz="1500" dirty="0"/>
          </a:p>
        </p:txBody>
      </p:sp>
      <p:sp>
        <p:nvSpPr>
          <p:cNvPr id="12" name="Shape 9"/>
          <p:cNvSpPr/>
          <p:nvPr/>
        </p:nvSpPr>
        <p:spPr>
          <a:xfrm>
            <a:off x="5760720" y="3063240"/>
            <a:ext cx="5882335" cy="1417320"/>
          </a:xfrm>
          <a:prstGeom prst="roundRect">
            <a:avLst>
              <a:gd name="adj" fmla="val 9032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637215" y="3401568"/>
            <a:ext cx="731520" cy="731520"/>
          </a:xfrm>
          <a:prstGeom prst="ellipse">
            <a:avLst/>
          </a:prstGeom>
          <a:solidFill>
            <a:srgbClr val="1F8A7A"/>
          </a:solidFill>
          <a:ln w="12700">
            <a:solidFill>
              <a:srgbClr val="1F8A7A"/>
            </a:solidFill>
            <a:prstDash val="solid"/>
          </a:ln>
        </p:spPr>
      </p:sp>
      <p:pic>
        <p:nvPicPr>
          <p:cNvPr id="14" name="icon FaShieldAl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4726" y="3599078"/>
            <a:ext cx="336499" cy="33649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035040" y="3246120"/>
            <a:ext cx="4419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قوت قلب و عزت</a:t>
            </a:r>
            <a:endParaRPr lang="fa-IR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035040" y="3703320"/>
            <a:ext cx="4419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در روایات آمده: هر که می‌خواهد نیرومندترین مردم باشد، بر خدا توکل کند.</a:t>
            </a:r>
            <a:endParaRPr lang="fa-IR" sz="1500" dirty="0"/>
          </a:p>
        </p:txBody>
      </p:sp>
      <p:sp>
        <p:nvSpPr>
          <p:cNvPr id="17" name="Shape 13"/>
          <p:cNvSpPr/>
          <p:nvPr/>
        </p:nvSpPr>
        <p:spPr>
          <a:xfrm>
            <a:off x="5760720" y="4663440"/>
            <a:ext cx="5882335" cy="1417320"/>
          </a:xfrm>
          <a:prstGeom prst="roundRect">
            <a:avLst>
              <a:gd name="adj" fmla="val 9032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637215" y="5001768"/>
            <a:ext cx="731520" cy="731520"/>
          </a:xfrm>
          <a:prstGeom prst="ellipse">
            <a:avLst/>
          </a:prstGeom>
          <a:solidFill>
            <a:srgbClr val="1F8A7A"/>
          </a:solidFill>
          <a:ln w="12700">
            <a:solidFill>
              <a:srgbClr val="1F8A7A"/>
            </a:solidFill>
            <a:prstDash val="solid"/>
          </a:ln>
        </p:spPr>
      </p:sp>
      <p:pic>
        <p:nvPicPr>
          <p:cNvPr id="19" name="icon FaHandHoldingHear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4726" y="5199278"/>
            <a:ext cx="336499" cy="33649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035040" y="4846320"/>
            <a:ext cx="4419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کفایت و بی‌نیازی</a:t>
            </a:r>
            <a:endParaRPr lang="fa-IR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035040" y="5303520"/>
            <a:ext cx="4419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«و هر کس بر خدا توکل کند، او برایش کافی است.» (طلاق ۳)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نمونه‌های توکل در قرآن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8158277" y="1508760"/>
            <a:ext cx="3484778" cy="4572000"/>
          </a:xfrm>
          <a:prstGeom prst="roundRect">
            <a:avLst>
              <a:gd name="adj" fmla="val 367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8277" y="1508760"/>
            <a:ext cx="3484778" cy="201168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16695" y="1830629"/>
            <a:ext cx="1367942" cy="1367942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6" name="icon FaWat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8797" y="2192731"/>
            <a:ext cx="643738" cy="6437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86877" y="37033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100" b="1" dirty="0">
                <a:solidFill>
                  <a:schemeClr val="tx2"/>
                </a:solidFill>
              </a:rPr>
              <a:t>موسی (ع) و دریا</a:t>
            </a:r>
            <a:endParaRPr lang="fa-IR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386877" y="4251960"/>
            <a:ext cx="30275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50" dirty="0">
                <a:solidFill>
                  <a:schemeClr val="tx1"/>
                </a:solidFill>
              </a:rPr>
              <a:t>در برابر دریا و لشکر فرعون گفت: «هرگز! پروردگارم با من است و مرا راهنمایی می‌کند.» (شعراء ۶۲)</a:t>
            </a:r>
            <a:endParaRPr lang="fa-IR" sz="1550" dirty="0"/>
          </a:p>
        </p:txBody>
      </p:sp>
      <p:sp>
        <p:nvSpPr>
          <p:cNvPr id="9" name="Shape 6"/>
          <p:cNvSpPr/>
          <p:nvPr/>
        </p:nvSpPr>
        <p:spPr>
          <a:xfrm>
            <a:off x="4353458" y="1508760"/>
            <a:ext cx="3484778" cy="4572000"/>
          </a:xfrm>
          <a:prstGeom prst="roundRect">
            <a:avLst>
              <a:gd name="adj" fmla="val 367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53458" y="1508760"/>
            <a:ext cx="3484778" cy="201168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11876" y="1830629"/>
            <a:ext cx="1367942" cy="1367942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12" name="icon FaMountai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979" y="2192731"/>
            <a:ext cx="643738" cy="6437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82058" y="37033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100" b="1" dirty="0">
                <a:solidFill>
                  <a:schemeClr val="tx2"/>
                </a:solidFill>
              </a:rPr>
              <a:t>پیامبر (ص) در غار</a:t>
            </a:r>
            <a:endParaRPr lang="fa-IR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582058" y="4251960"/>
            <a:ext cx="30275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50" dirty="0">
                <a:solidFill>
                  <a:schemeClr val="tx1"/>
                </a:solidFill>
              </a:rPr>
              <a:t>به یار خود فرمود: «غمگین مباش، خدا با ماست.» (توبه ۴۰)</a:t>
            </a:r>
            <a:endParaRPr lang="fa-IR" sz="1550" dirty="0"/>
          </a:p>
        </p:txBody>
      </p:sp>
      <p:sp>
        <p:nvSpPr>
          <p:cNvPr id="15" name="Shape 11"/>
          <p:cNvSpPr/>
          <p:nvPr/>
        </p:nvSpPr>
        <p:spPr>
          <a:xfrm>
            <a:off x="548640" y="1508760"/>
            <a:ext cx="3484778" cy="4572000"/>
          </a:xfrm>
          <a:prstGeom prst="roundRect">
            <a:avLst>
              <a:gd name="adj" fmla="val 367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1508760"/>
            <a:ext cx="3484778" cy="201168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607058" y="1830629"/>
            <a:ext cx="1367942" cy="1367942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18" name="icon FaUser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160" y="2192731"/>
            <a:ext cx="643738" cy="6437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77240" y="370332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100" b="1" dirty="0">
                <a:solidFill>
                  <a:schemeClr val="tx2"/>
                </a:solidFill>
              </a:rPr>
              <a:t>مؤمنان و «حسبنا الله»</a:t>
            </a:r>
            <a:endParaRPr lang="fa-IR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4251960"/>
            <a:ext cx="30275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50" dirty="0">
                <a:solidFill>
                  <a:schemeClr val="tx1"/>
                </a:solidFill>
              </a:rPr>
              <a:t>گفتند: «خدا ما را بس است و او نیکو وکیلی است.» (آل‌عمران ۱۷۳)</a:t>
            </a:r>
            <a:endParaRPr lang="fa-IR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پیوند شکر و توکل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5367528" y="1463040"/>
            <a:ext cx="3474720" cy="3474720"/>
          </a:xfrm>
          <a:prstGeom prst="ellipse">
            <a:avLst/>
          </a:prstGeom>
          <a:solidFill>
            <a:srgbClr val="1F8A7A">
              <a:alpha val="85000"/>
            </a:srgbClr>
          </a:solidFill>
          <a:ln w="12700">
            <a:solidFill>
              <a:srgbClr val="1F8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55848" y="1463040"/>
            <a:ext cx="3474720" cy="3474720"/>
          </a:xfrm>
          <a:prstGeom prst="ellipse">
            <a:avLst/>
          </a:prstGeom>
          <a:solidFill>
            <a:srgbClr val="C9A24B">
              <a:alpha val="85000"/>
            </a:srgbClr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223760" y="2651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3600" b="1" dirty="0">
                <a:solidFill>
                  <a:schemeClr val="bg1"/>
                </a:solidFill>
              </a:rPr>
              <a:t>شکر</a:t>
            </a:r>
            <a:endParaRPr lang="fa-IR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26517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3600" b="1" dirty="0">
                <a:solidFill>
                  <a:schemeClr val="tx1"/>
                </a:solidFill>
              </a:rPr>
              <a:t>توکل</a:t>
            </a:r>
            <a:endParaRPr lang="fa-IR" sz="3600" dirty="0"/>
          </a:p>
        </p:txBody>
      </p:sp>
      <p:sp>
        <p:nvSpPr>
          <p:cNvPr id="7" name="Shape 5"/>
          <p:cNvSpPr/>
          <p:nvPr/>
        </p:nvSpPr>
        <p:spPr>
          <a:xfrm>
            <a:off x="5349240" y="2743200"/>
            <a:ext cx="1508760" cy="640080"/>
          </a:xfrm>
          <a:prstGeom prst="roundRect">
            <a:avLst>
              <a:gd name="adj" fmla="val 20000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49240" y="27432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chemeClr val="bg1"/>
                </a:solidFill>
              </a:rPr>
              <a:t>توحید و آرامش</a:t>
            </a:r>
            <a:endParaRPr lang="fa-IR" sz="1400" dirty="0"/>
          </a:p>
        </p:txBody>
      </p:sp>
      <p:sp>
        <p:nvSpPr>
          <p:cNvPr id="9" name="Shape 7"/>
          <p:cNvSpPr/>
          <p:nvPr/>
        </p:nvSpPr>
        <p:spPr>
          <a:xfrm>
            <a:off x="6312103" y="5166360"/>
            <a:ext cx="5330952" cy="1005840"/>
          </a:xfrm>
          <a:prstGeom prst="roundRect">
            <a:avLst>
              <a:gd name="adj" fmla="val 12727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6423" y="5257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شکر: گذشته و حال</a:t>
            </a:r>
            <a:endParaRPr lang="fa-IR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86423" y="5669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نعمت‌هایی که دریافت کرده‌ام را می‌بینم و سپاس می‌گویم.</a:t>
            </a:r>
            <a:endParaRPr lang="fa-IR" sz="1500" dirty="0"/>
          </a:p>
        </p:txBody>
      </p:sp>
      <p:sp>
        <p:nvSpPr>
          <p:cNvPr id="12" name="Shape 10"/>
          <p:cNvSpPr/>
          <p:nvPr/>
        </p:nvSpPr>
        <p:spPr>
          <a:xfrm>
            <a:off x="432511" y="5166360"/>
            <a:ext cx="5330952" cy="1005840"/>
          </a:xfrm>
          <a:prstGeom prst="roundRect">
            <a:avLst>
              <a:gd name="adj" fmla="val 12727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6831" y="5257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توکل: آینده</a:t>
            </a:r>
            <a:endParaRPr lang="fa-IR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06831" y="5669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tx1"/>
                </a:solidFill>
              </a:rPr>
              <a:t>با تلاش، کار را به خدا می‌سپارم و دل را آرام می‌کنم.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tx2"/>
                </a:solidFill>
              </a:rPr>
              <a:t>برنامهٔ عملی یک روز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8158277" y="1508760"/>
            <a:ext cx="3484778" cy="4572000"/>
          </a:xfrm>
          <a:prstGeom prst="roundRect">
            <a:avLst>
              <a:gd name="adj" fmla="val 367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58277" y="1508760"/>
            <a:ext cx="3484778" cy="155448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143" y="1757477"/>
            <a:ext cx="1057046" cy="1057046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6" name="icon FaSu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1949" y="2037283"/>
            <a:ext cx="497434" cy="4974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86877" y="32004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tx2"/>
                </a:solidFill>
              </a:rPr>
              <a:t>صبح؛ توکل</a:t>
            </a:r>
            <a:endParaRPr lang="fa-IR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386877" y="3794760"/>
            <a:ext cx="30275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tx1"/>
                </a:solidFill>
              </a:rPr>
              <a:t>با نام خدا و نیت خالص آغاز کن</a:t>
            </a:r>
            <a:endParaRPr lang="fa-IR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tx1"/>
                </a:solidFill>
              </a:rPr>
              <a:t>کارهای روز را به خدا بسپار</a:t>
            </a:r>
            <a:endParaRPr lang="fa-IR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tx1"/>
                </a:solidFill>
              </a:rPr>
              <a:t>برای توفیق دعا کن</a:t>
            </a:r>
            <a:endParaRPr lang="fa-IR" sz="1700" dirty="0"/>
          </a:p>
        </p:txBody>
      </p:sp>
      <p:sp>
        <p:nvSpPr>
          <p:cNvPr id="9" name="Shape 6"/>
          <p:cNvSpPr/>
          <p:nvPr/>
        </p:nvSpPr>
        <p:spPr>
          <a:xfrm>
            <a:off x="4353458" y="1508760"/>
            <a:ext cx="3484778" cy="4572000"/>
          </a:xfrm>
          <a:prstGeom prst="roundRect">
            <a:avLst>
              <a:gd name="adj" fmla="val 367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53458" y="1508760"/>
            <a:ext cx="3484778" cy="155448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67324" y="1757477"/>
            <a:ext cx="1057046" cy="1057046"/>
          </a:xfrm>
          <a:prstGeom prst="ellipse">
            <a:avLst/>
          </a:prstGeom>
          <a:solidFill>
            <a:srgbClr val="0B5048">
              <a:alpha val="18000"/>
            </a:srgbClr>
          </a:solidFill>
          <a:ln w="12700">
            <a:solidFill>
              <a:srgbClr val="0B5048"/>
            </a:solidFill>
            <a:prstDash val="solid"/>
          </a:ln>
        </p:spPr>
      </p:sp>
      <p:pic>
        <p:nvPicPr>
          <p:cNvPr id="12" name="icon FaBriefc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131" y="2037283"/>
            <a:ext cx="497434" cy="49743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82058" y="32004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tx2"/>
                </a:solidFill>
              </a:rPr>
              <a:t>روز؛ تلاش و شکر</a:t>
            </a:r>
            <a:endParaRPr lang="fa-IR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582058" y="3794760"/>
            <a:ext cx="30275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tx1"/>
                </a:solidFill>
              </a:rPr>
              <a:t>با برنامه و تلاش کار کن</a:t>
            </a:r>
            <a:endParaRPr lang="fa-IR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tx1"/>
                </a:solidFill>
              </a:rPr>
              <a:t>از هر نعمت، و از مردم تشکر کن</a:t>
            </a:r>
            <a:endParaRPr lang="fa-IR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tx1"/>
                </a:solidFill>
              </a:rPr>
              <a:t>نعمت را در راه درست خرج کن</a:t>
            </a:r>
            <a:endParaRPr lang="fa-IR" sz="1700" dirty="0"/>
          </a:p>
        </p:txBody>
      </p:sp>
      <p:sp>
        <p:nvSpPr>
          <p:cNvPr id="15" name="Shape 11"/>
          <p:cNvSpPr/>
          <p:nvPr/>
        </p:nvSpPr>
        <p:spPr>
          <a:xfrm>
            <a:off x="548640" y="1508760"/>
            <a:ext cx="3484778" cy="4572000"/>
          </a:xfrm>
          <a:prstGeom prst="roundRect">
            <a:avLst>
              <a:gd name="adj" fmla="val 3674"/>
            </a:avLst>
          </a:prstGeom>
          <a:solidFill>
            <a:srgbClr val="EAF2EF"/>
          </a:solidFill>
          <a:ln w="12700">
            <a:solidFill>
              <a:srgbClr val="EAF2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1508760"/>
            <a:ext cx="3484778" cy="155448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762506" y="1757477"/>
            <a:ext cx="1057046" cy="1057046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18" name="icon FaMo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312" y="2037283"/>
            <a:ext cx="497434" cy="49743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77240" y="32004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tx2"/>
                </a:solidFill>
              </a:rPr>
              <a:t>شب؛ شکر</a:t>
            </a:r>
            <a:endParaRPr lang="fa-IR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3794760"/>
            <a:ext cx="30275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tx1"/>
                </a:solidFill>
              </a:rPr>
              <a:t>سه نعمت امروز را یادداشت کن</a:t>
            </a:r>
            <a:endParaRPr lang="fa-IR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tx1"/>
                </a:solidFill>
              </a:rPr>
              <a:t>حمد و سپاس بگو</a:t>
            </a:r>
            <a:endParaRPr lang="fa-IR" sz="17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fa-IR" altLang="en-US" sz="1700" dirty="0">
                <a:solidFill>
                  <a:schemeClr val="tx1"/>
                </a:solidFill>
              </a:rPr>
              <a:t>نتیجه را به خدا واگذار و آرام بخواب</a:t>
            </a:r>
            <a:endParaRPr lang="fa-I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F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400" b="1" dirty="0">
                <a:solidFill>
                  <a:schemeClr val="bg1"/>
                </a:solidFill>
              </a:rPr>
              <a:t>جمع‌بندی</a:t>
            </a:r>
            <a:endParaRPr lang="fa-IR" sz="3400" dirty="0"/>
          </a:p>
        </p:txBody>
      </p:sp>
      <p:sp>
        <p:nvSpPr>
          <p:cNvPr id="3" name="Shape 1"/>
          <p:cNvSpPr/>
          <p:nvPr/>
        </p:nvSpPr>
        <p:spPr>
          <a:xfrm>
            <a:off x="694944" y="1609344"/>
            <a:ext cx="3840480" cy="4572000"/>
          </a:xfrm>
          <a:prstGeom prst="rect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3840480" cy="457200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3117" y="2443277"/>
            <a:ext cx="2611526" cy="2611526"/>
          </a:xfrm>
          <a:prstGeom prst="ellipse">
            <a:avLst/>
          </a:prstGeom>
          <a:solidFill>
            <a:srgbClr val="8CC1B2">
              <a:alpha val="18000"/>
            </a:srgbClr>
          </a:solidFill>
          <a:ln w="12700">
            <a:solidFill>
              <a:srgbClr val="8CC1B2"/>
            </a:solidFill>
            <a:prstDash val="solid"/>
          </a:ln>
        </p:spPr>
      </p:sp>
      <p:pic>
        <p:nvPicPr>
          <p:cNvPr id="6" name="icon FaHandsHelpin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403" y="3134563"/>
            <a:ext cx="1228954" cy="12289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1463040"/>
            <a:ext cx="6888175" cy="1024128"/>
          </a:xfrm>
          <a:prstGeom prst="roundRect">
            <a:avLst>
              <a:gd name="adj" fmla="val 12500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820095" y="1645920"/>
            <a:ext cx="658368" cy="65836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820095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2200" b="1" dirty="0">
                <a:solidFill>
                  <a:srgbClr val="10302D"/>
                </a:solidFill>
              </a:rPr>
              <a:t>۱</a:t>
            </a:r>
            <a:endParaRPr lang="fa-IR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1463040"/>
            <a:ext cx="565373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800" dirty="0">
                <a:solidFill>
                  <a:schemeClr val="bg1"/>
                </a:solidFill>
              </a:rPr>
              <a:t>شکر یعنی شناخت نعمت و نعمت‌دهنده و به‌کار بردن نعمت در راه رضای او.</a:t>
            </a:r>
            <a:endParaRPr lang="fa-IR" sz="1800" dirty="0"/>
          </a:p>
        </p:txBody>
      </p:sp>
      <p:sp>
        <p:nvSpPr>
          <p:cNvPr id="11" name="Shape 8"/>
          <p:cNvSpPr/>
          <p:nvPr/>
        </p:nvSpPr>
        <p:spPr>
          <a:xfrm>
            <a:off x="4754880" y="2633472"/>
            <a:ext cx="6888175" cy="1024128"/>
          </a:xfrm>
          <a:prstGeom prst="roundRect">
            <a:avLst>
              <a:gd name="adj" fmla="val 12500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820095" y="2816352"/>
            <a:ext cx="658368" cy="65836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20095" y="2816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2200" b="1" dirty="0">
                <a:solidFill>
                  <a:srgbClr val="10302D"/>
                </a:solidFill>
              </a:rPr>
              <a:t>۲</a:t>
            </a:r>
            <a:endParaRPr lang="fa-IR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2633472"/>
            <a:ext cx="565373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800" dirty="0">
                <a:solidFill>
                  <a:schemeClr val="bg1"/>
                </a:solidFill>
              </a:rPr>
              <a:t>شکر در سه ساحت قلب، زبان و عمل جلوه می‌کند و نعمت را افزون می‌سازد.</a:t>
            </a:r>
            <a:endParaRPr lang="fa-IR" sz="1800" dirty="0"/>
          </a:p>
        </p:txBody>
      </p:sp>
      <p:sp>
        <p:nvSpPr>
          <p:cNvPr id="15" name="Shape 12"/>
          <p:cNvSpPr/>
          <p:nvPr/>
        </p:nvSpPr>
        <p:spPr>
          <a:xfrm>
            <a:off x="4754880" y="3803904"/>
            <a:ext cx="6888175" cy="1024128"/>
          </a:xfrm>
          <a:prstGeom prst="roundRect">
            <a:avLst>
              <a:gd name="adj" fmla="val 12500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820095" y="3986784"/>
            <a:ext cx="658368" cy="65836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820095" y="39867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2200" b="1" dirty="0">
                <a:solidFill>
                  <a:srgbClr val="10302D"/>
                </a:solidFill>
              </a:rPr>
              <a:t>۳</a:t>
            </a:r>
            <a:endParaRPr lang="fa-IR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3803904"/>
            <a:ext cx="565373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800" dirty="0">
                <a:solidFill>
                  <a:schemeClr val="bg1"/>
                </a:solidFill>
              </a:rPr>
              <a:t>توکل یعنی تلاش همراه با اعتماد به خدا، نه ترک اسباب.</a:t>
            </a:r>
            <a:endParaRPr lang="fa-IR" sz="1800" dirty="0"/>
          </a:p>
        </p:txBody>
      </p:sp>
      <p:sp>
        <p:nvSpPr>
          <p:cNvPr id="19" name="Shape 16"/>
          <p:cNvSpPr/>
          <p:nvPr/>
        </p:nvSpPr>
        <p:spPr>
          <a:xfrm>
            <a:off x="4754880" y="4974336"/>
            <a:ext cx="6888175" cy="1024128"/>
          </a:xfrm>
          <a:prstGeom prst="roundRect">
            <a:avLst>
              <a:gd name="adj" fmla="val 12500"/>
            </a:avLst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820095" y="5157216"/>
            <a:ext cx="658368" cy="658368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20095" y="51572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2200" b="1" dirty="0">
                <a:solidFill>
                  <a:srgbClr val="10302D"/>
                </a:solidFill>
              </a:rPr>
              <a:t>۴</a:t>
            </a:r>
            <a:endParaRPr lang="fa-IR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0" y="4974336"/>
            <a:ext cx="565373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800" dirty="0">
                <a:solidFill>
                  <a:schemeClr val="bg1"/>
                </a:solidFill>
              </a:rPr>
              <a:t>شکر و توکل دو بال پرواز به سوی آرامش و نزدیکی به خدایند.</a:t>
            </a:r>
            <a:endParaRPr lang="fa-I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CC1B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048"/>
          </a:solidFill>
          <a:ln w="12700">
            <a:solidFill>
              <a:srgbClr val="0B50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1371600"/>
            <a:ext cx="9997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5400" b="1" dirty="0">
                <a:solidFill>
                  <a:schemeClr val="bg1"/>
                </a:solidFill>
              </a:rPr>
              <a:t>سپاس از توجه شما</a:t>
            </a:r>
            <a:endParaRPr lang="fa-IR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83464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وَعَلَيْهِ يَتَوَكَّلُ الْمُتَوَكِّلُونَ</a:t>
            </a:r>
            <a:endParaRPr lang="ar-SA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65760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400" dirty="0">
                <a:solidFill>
                  <a:schemeClr val="accent3"/>
                </a:solidFill>
              </a:rPr>
              <a:t>زمر، آیهٔ ۳۸</a:t>
            </a:r>
            <a:endParaRPr lang="fa-IR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420624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الْحَمْدُ لِلَّهِ رَبِّ الْعَالَمِينَ</a:t>
            </a:r>
            <a:endParaRPr lang="ar-SA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400" dirty="0">
                <a:solidFill>
                  <a:schemeClr val="accent3"/>
                </a:solidFill>
              </a:rPr>
              <a:t>منابع: قرآن کریم؛ نهج‌البلاغه؛ اصول کافی؛ اخلاق اسلامی، محمد داوودی؛ جامع‌السعادات، ملا‌مهدی نراقی</a:t>
            </a:r>
            <a:endParaRPr lang="fa-IR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kr Tavakkol">
  <a:themeElements>
    <a:clrScheme name="Shokr Tavakkol">
      <a:dk1>
        <a:srgbClr val="10302D"/>
      </a:dk1>
      <a:lt1>
        <a:srgbClr val="FFFFFF"/>
      </a:lt1>
      <a:dk2>
        <a:srgbClr val="0B5048"/>
      </a:dk2>
      <a:lt2>
        <a:srgbClr val="EAF2EF"/>
      </a:lt2>
      <a:accent1>
        <a:srgbClr val="C9A24B"/>
      </a:accent1>
      <a:accent2>
        <a:srgbClr val="1F8A7A"/>
      </a:accent2>
      <a:accent3>
        <a:srgbClr val="8CC1B2"/>
      </a:accent3>
      <a:accent4>
        <a:srgbClr val="C8674A"/>
      </a:accent4>
      <a:accent5>
        <a:srgbClr val="2F5F8F"/>
      </a:accent5>
      <a:accent6>
        <a:srgbClr val="6A4C93"/>
      </a:accent6>
      <a:hlink>
        <a:srgbClr val="1F8A7A"/>
      </a:hlink>
      <a:folHlink>
        <a:srgbClr val="6A4C93"/>
      </a:folHlink>
    </a:clrScheme>
    <a:fontScheme name="Shokr Tavakko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شکر و توکل</dc:title>
  <dc:subject>اخلاق اسلامی</dc:subject>
  <dc:creator>PptxGenJS</dc:creator>
  <cp:lastModifiedBy>PptxGenJS</cp:lastModifiedBy>
  <cp:revision>1</cp:revision>
  <dcterms:created xsi:type="dcterms:W3CDTF">2026-10-19T16:46:54Z</dcterms:created>
  <dcterms:modified xsi:type="dcterms:W3CDTF">2026-10-19T16:46:54Z</dcterms:modified>
</cp:coreProperties>
</file>